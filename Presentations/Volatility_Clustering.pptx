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B2A4A"/>
                </a:solidFill>
                <a:latin typeface="Cambria"/>
              </a:defRPr>
            </a:pPr>
            <a:r>
              <a:rPr sz="1300" b="1" i="0" u="none" strike="noStrike">
                <a:solidFill>
                  <a:srgbClr val="1B2A4A"/>
                </a:solidFill>
                <a:latin typeface="Cambria"/>
              </a:rPr>
              <a:t>Same Average Return, Different Spread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Calm period (low σ)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-6.0</c:v>
                  </c:pt>
                  <c:pt idx="1">
                    <c:v>-5.3</c:v>
                  </c:pt>
                  <c:pt idx="2">
                    <c:v>-4.5</c:v>
                  </c:pt>
                  <c:pt idx="3">
                    <c:v>-3.8</c:v>
                  </c:pt>
                  <c:pt idx="4">
                    <c:v>-3.0</c:v>
                  </c:pt>
                  <c:pt idx="5">
                    <c:v>-2.3</c:v>
                  </c:pt>
                  <c:pt idx="6">
                    <c:v>-1.5</c:v>
                  </c:pt>
                  <c:pt idx="7">
                    <c:v>-0.8</c:v>
                  </c:pt>
                  <c:pt idx="8">
                    <c:v>0.0</c:v>
                  </c:pt>
                  <c:pt idx="9">
                    <c:v>0.8</c:v>
                  </c:pt>
                  <c:pt idx="10">
                    <c:v>1.5</c:v>
                  </c:pt>
                  <c:pt idx="11">
                    <c:v>2.3</c:v>
                  </c:pt>
                  <c:pt idx="12">
                    <c:v>3.0</c:v>
                  </c:pt>
                  <c:pt idx="13">
                    <c:v>3.8</c:v>
                  </c:pt>
                  <c:pt idx="14">
                    <c:v>4.5</c:v>
                  </c:pt>
                  <c:pt idx="15">
                    <c:v>5.3</c:v>
                  </c:pt>
                  <c:pt idx="16">
                    <c:v>6.0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6.075882849823286e-9</c:v>
                </c:pt>
                <c:pt idx="1">
                  <c:v>4.1284709886299984e-7</c:v>
                </c:pt>
                <c:pt idx="2">
                  <c:v>0.000015983741106905475</c:v>
                </c:pt>
                <c:pt idx="3">
                  <c:v>0.0003525956823674454</c:v>
                </c:pt>
                <c:pt idx="4">
                  <c:v>0.0044318484119380075</c:v>
                </c:pt>
                <c:pt idx="5">
                  <c:v>0.03173965183566742</c:v>
                </c:pt>
                <c:pt idx="6">
                  <c:v>0.12951759566589174</c:v>
                </c:pt>
                <c:pt idx="7">
                  <c:v>0.30113743215480443</c:v>
                </c:pt>
                <c:pt idx="8">
                  <c:v>0.3989422804014327</c:v>
                </c:pt>
                <c:pt idx="9">
                  <c:v>0.30113743215480443</c:v>
                </c:pt>
                <c:pt idx="10">
                  <c:v>0.12951759566589174</c:v>
                </c:pt>
                <c:pt idx="11">
                  <c:v>0.03173965183566742</c:v>
                </c:pt>
                <c:pt idx="12">
                  <c:v>0.0044318484119380075</c:v>
                </c:pt>
                <c:pt idx="13">
                  <c:v>0.0003525956823674454</c:v>
                </c:pt>
                <c:pt idx="14">
                  <c:v>0.000015983741106905475</c:v>
                </c:pt>
                <c:pt idx="15">
                  <c:v>4.1284709886299984e-7</c:v>
                </c:pt>
                <c:pt idx="16">
                  <c:v>6.075882849823286e-9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Turbulent period (high σ)</c:v>
                </c:pt>
              </c:strCache>
            </c:strRef>
          </c:tx>
          <c:spPr>
            <a:solidFill>
              <a:srgbClr val="E8743B"/>
            </a:solidFill>
            <a:ln w="31750" cap="flat">
              <a:solidFill>
                <a:srgbClr val="E874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743B"/>
              </a:solidFill>
              <a:ln w="9525" cap="flat">
                <a:solidFill>
                  <a:srgbClr val="E874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-6.0</c:v>
                  </c:pt>
                  <c:pt idx="1">
                    <c:v>-5.3</c:v>
                  </c:pt>
                  <c:pt idx="2">
                    <c:v>-4.5</c:v>
                  </c:pt>
                  <c:pt idx="3">
                    <c:v>-3.8</c:v>
                  </c:pt>
                  <c:pt idx="4">
                    <c:v>-3.0</c:v>
                  </c:pt>
                  <c:pt idx="5">
                    <c:v>-2.3</c:v>
                  </c:pt>
                  <c:pt idx="6">
                    <c:v>-1.5</c:v>
                  </c:pt>
                  <c:pt idx="7">
                    <c:v>-0.8</c:v>
                  </c:pt>
                  <c:pt idx="8">
                    <c:v>0.0</c:v>
                  </c:pt>
                  <c:pt idx="9">
                    <c:v>0.8</c:v>
                  </c:pt>
                  <c:pt idx="10">
                    <c:v>1.5</c:v>
                  </c:pt>
                  <c:pt idx="11">
                    <c:v>2.3</c:v>
                  </c:pt>
                  <c:pt idx="12">
                    <c:v>3.0</c:v>
                  </c:pt>
                  <c:pt idx="13">
                    <c:v>3.8</c:v>
                  </c:pt>
                  <c:pt idx="14">
                    <c:v>4.5</c:v>
                  </c:pt>
                  <c:pt idx="15">
                    <c:v>5.3</c:v>
                  </c:pt>
                  <c:pt idx="16">
                    <c:v>6.0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0.004398885093390912</c:v>
                </c:pt>
                <c:pt idx="1">
                  <c:v>0.01051700722934584</c:v>
                </c:pt>
                <c:pt idx="2">
                  <c:v>0.022385585262578944</c:v>
                </c:pt>
                <c:pt idx="3">
                  <c:v>0.04242007775469569</c:v>
                </c:pt>
                <c:pt idx="4">
                  <c:v>0.07156508528129259</c:v>
                </c:pt>
                <c:pt idx="5">
                  <c:v>0.10748742330620166</c:v>
                </c:pt>
                <c:pt idx="6">
                  <c:v>0.14372781953486535</c:v>
                </c:pt>
                <c:pt idx="7">
                  <c:v>0.17110029093574697</c:v>
                </c:pt>
                <c:pt idx="8">
                  <c:v>0.18133740018246938</c:v>
                </c:pt>
                <c:pt idx="9">
                  <c:v>0.17110029093574697</c:v>
                </c:pt>
                <c:pt idx="10">
                  <c:v>0.14372781953486535</c:v>
                </c:pt>
                <c:pt idx="11">
                  <c:v>0.10748742330620166</c:v>
                </c:pt>
                <c:pt idx="12">
                  <c:v>0.07156508528129259</c:v>
                </c:pt>
                <c:pt idx="13">
                  <c:v>0.04242007775469569</c:v>
                </c:pt>
                <c:pt idx="14">
                  <c:v>0.022385585262578944</c:v>
                </c:pt>
                <c:pt idx="15">
                  <c:v>0.01051700722934584</c:v>
                </c:pt>
                <c:pt idx="16">
                  <c:v>0.004398885093390912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A455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A4556"/>
                    </a:solidFill>
                    <a:latin typeface="Arial"/>
                  </a:rPr>
                  <a:t>Return →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7CF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A455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A4556"/>
                    </a:solidFill>
                    <a:latin typeface="Arial"/>
                  </a:rPr>
                  <a:t>Likelihood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7CF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455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B2A4A"/>
                </a:solidFill>
                <a:latin typeface="Cambria"/>
              </a:defRPr>
            </a:pPr>
            <a:r>
              <a:rPr sz="1300" b="1" i="0" u="none" strike="noStrike">
                <a:solidFill>
                  <a:srgbClr val="1B2A4A"/>
                </a:solidFill>
                <a:latin typeface="Cambria"/>
              </a:rPr>
              <a:t>S&amp;P 500 Daily Volatility (σ)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volatility (σ)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2009 · Financial Crisis</c:v>
                  </c:pt>
                  <c:pt idx="1">
                    <c:v>2017 · Record Calm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1.72</c:v>
                </c:pt>
                <c:pt idx="1">
                  <c:v>0.42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455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93A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A93A3"/>
                    </a:solidFill>
                    <a:latin typeface="Arial"/>
                  </a:rPr>
                  <a:t>Daily σ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Volatility?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speedometer for how bumpy the ride 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777240" cy="777240"/>
          </a:xfrm>
          <a:prstGeom prst="ellipse">
            <a:avLst/>
          </a:prstGeom>
          <a:solidFill>
            <a:srgbClr val="DCEBF7"/>
          </a:solidFill>
          <a:ln/>
        </p:spPr>
      </p:sp>
      <p:sp>
        <p:nvSpPr>
          <p:cNvPr id="5" name="Shape 3"/>
          <p:cNvSpPr/>
          <p:nvPr/>
        </p:nvSpPr>
        <p:spPr>
          <a:xfrm>
            <a:off x="11036808" y="521208"/>
            <a:ext cx="466344" cy="466344"/>
          </a:xfrm>
          <a:prstGeom prst="wav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DCEBF7"/>
          </a:solidFill>
          <a:ln/>
        </p:spPr>
      </p:sp>
      <p:sp>
        <p:nvSpPr>
          <p:cNvPr id="7" name="Shape 5"/>
          <p:cNvSpPr/>
          <p:nvPr/>
        </p:nvSpPr>
        <p:spPr>
          <a:xfrm>
            <a:off x="702259" y="1845259"/>
            <a:ext cx="332842" cy="332842"/>
          </a:xfrm>
          <a:prstGeom prst="leftRightArrow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just dispersion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02996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is how far returns wander from their average. In statistics it's the standard deviation (σ) of returns — a bigger σ means bigger swings, a smaller σ means a smoother ride.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5852160" cy="2423160"/>
          </a:xfrm>
          <a:prstGeom prst="roundRect">
            <a:avLst>
              <a:gd name="adj" fmla="val 3019"/>
            </a:avLst>
          </a:prstGeom>
          <a:solidFill>
            <a:srgbClr val="FBE4D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VERSION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9776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≈ 1.22%/day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long-run daily average (μ ≈ 0.02%/day)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8920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a commute that averages 25 minutes but ranges anywhere from 20 to 45 — that spread around the average IS the volatility.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858000" y="1600200"/>
          <a:ext cx="48463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6858000" y="5577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average return either way — the wide curve is just a more volatile stretch.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S&amp;P 500 daily returns, long-run average — FM 2026 Econometrics Workshop, D. Pelletier, NCSU. Curves are illustrative.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Volatility Clustering?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Turbulent days travel in packs. So do calm ones.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777240" cy="777240"/>
          </a:xfrm>
          <a:prstGeom prst="ellipse">
            <a:avLst/>
          </a:prstGeom>
          <a:solidFill>
            <a:srgbClr val="DCEBF7"/>
          </a:solidFill>
          <a:ln/>
        </p:spPr>
      </p:sp>
      <p:sp>
        <p:nvSpPr>
          <p:cNvPr id="5" name="Shape 3"/>
          <p:cNvSpPr/>
          <p:nvPr/>
        </p:nvSpPr>
        <p:spPr>
          <a:xfrm>
            <a:off x="11036808" y="521208"/>
            <a:ext cx="466344" cy="466344"/>
          </a:xfrm>
          <a:prstGeom prst="wave">
            <a:avLst/>
          </a:prstGeom>
          <a:solidFill>
            <a:srgbClr val="1C7293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52120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61772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BE4D8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736592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~4×</a:t>
            </a:r>
            <a:endParaRPr lang="en-US" sz="2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556"/>
                </a:solidFill>
              </a:rPr>
              <a:t>A typical 2009 trading day moved about as much as four typical 2017 days — and the big days didn't scatter randomly, they clumped together.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035040" y="1691640"/>
            <a:ext cx="640080" cy="640080"/>
          </a:xfrm>
          <a:prstGeom prst="ellipse">
            <a:avLst/>
          </a:prstGeom>
          <a:solidFill>
            <a:srgbClr val="DCEBF7"/>
          </a:solidFill>
          <a:ln/>
        </p:spPr>
      </p:sp>
      <p:sp>
        <p:nvSpPr>
          <p:cNvPr id="10" name="Shape 7"/>
          <p:cNvSpPr/>
          <p:nvPr/>
        </p:nvSpPr>
        <p:spPr>
          <a:xfrm>
            <a:off x="6188659" y="1845259"/>
            <a:ext cx="332842" cy="332842"/>
          </a:xfrm>
          <a:prstGeom prst="doubleWav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clusters, even if direction doesn't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0" y="202996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predict tomorrow's direction — up or down is close to a coin flip. But if today was a big move, tomorrow is more likely to be a big move too, in either direction.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0" y="3401568"/>
            <a:ext cx="640080" cy="640080"/>
          </a:xfrm>
          <a:prstGeom prst="ellipse">
            <a:avLst/>
          </a:prstGeom>
          <a:solidFill>
            <a:srgbClr val="DCEBF7"/>
          </a:solidFill>
          <a:ln/>
        </p:spPr>
      </p:sp>
      <p:sp>
        <p:nvSpPr>
          <p:cNvPr id="14" name="Shape 11"/>
          <p:cNvSpPr/>
          <p:nvPr/>
        </p:nvSpPr>
        <p:spPr>
          <a:xfrm>
            <a:off x="6188659" y="3555187"/>
            <a:ext cx="332842" cy="332842"/>
          </a:xfrm>
          <a:prstGeom prst="cloud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0" y="33558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weather, not dice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858000" y="3739896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Stormy weeks arrive in stretches, and so do calm ones. Markets move through the same kind of “weather systems” — pockets of turbulence, pockets of calm.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5111496"/>
            <a:ext cx="5760720" cy="1005840"/>
          </a:xfrm>
          <a:prstGeom prst="roundRect">
            <a:avLst>
              <a:gd name="adj" fmla="val 7273"/>
            </a:avLst>
          </a:prstGeom>
          <a:solidFill>
            <a:srgbClr val="E7F1F7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519379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09360" y="542239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moves keep company with big moves.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 days keep company with calm days.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S&amp;P 500 daily returns — FM 2026 Econometrics Workshop, D. Pelletier, NCSU Financial Mathematics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Calculation: Standard Deviation, Step by Step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probability-weighted return distribution to σ — by hand.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777240" cy="777240"/>
          </a:xfrm>
          <a:prstGeom prst="ellipse">
            <a:avLst/>
          </a:prstGeom>
          <a:solidFill>
            <a:srgbClr val="DCEBF7"/>
          </a:solidFill>
          <a:ln/>
        </p:spPr>
      </p:sp>
      <p:sp>
        <p:nvSpPr>
          <p:cNvPr id="5" name="Shape 3"/>
          <p:cNvSpPr/>
          <p:nvPr/>
        </p:nvSpPr>
        <p:spPr>
          <a:xfrm>
            <a:off x="11036808" y="521208"/>
            <a:ext cx="466344" cy="466344"/>
          </a:xfrm>
          <a:prstGeom prst="wav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1 — R₁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3949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97280"/>
                <a:gridCol w="118872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R₁ (%)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R₁ − R̄₁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(R₁ − R̄₁)²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p·(R₁−R̄₁)²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Σp = 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σ² =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675888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FBE4D8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67588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R̄₁ = 4%      σ₁² = 184      σ₁ = √184 ≈ 13.56%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0" y="14173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2 — R₂</a:t>
            </a:r>
            <a:endParaRPr lang="en-US" sz="16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37360"/>
          <a:ext cx="53949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97280"/>
                <a:gridCol w="118872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R₂ (%)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R̄₂ − R₂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(R̄₂ − R₂)²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p·(R̄₂−R₂)²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Σp = 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σ² =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217920" y="3675888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FBE4D8"/>
          </a:solidFill>
          <a:ln/>
        </p:spPr>
      </p:sp>
      <p:sp>
        <p:nvSpPr>
          <p:cNvPr id="13" name="Text 9"/>
          <p:cNvSpPr/>
          <p:nvPr/>
        </p:nvSpPr>
        <p:spPr>
          <a:xfrm>
            <a:off x="6217920" y="367588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R̄₂ = 16%      σ₂² = 24      σ₂ = √24 ≈ 4.89%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7F1F7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45537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NUMBER FEELS RIGHT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48646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σ₁ ≈ 13.56% is about 2.8× larger than σ₂ ≈ 4.89% — Asset 1's outcomes ({−10%, 0%, 20%}) are spread much wider around its 4% average than Asset 2's ({20%, 20%, 10%}) are around its 16% average. Same idea as the two bell curves on the first slide: same-shaped math, wider spread → bigger σ → the riskier asset. Squaring the deviations (so plus and minus swings don't cancel out), weighting by probability, then square-rooting back to the original units is exactly how that spread gets turned into one number.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personal work — HW1, Alternate Solution to Q4 (two-asset return distributions)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2026-09-11T15:08:27Z</dcterms:created>
  <dcterms:modified xsi:type="dcterms:W3CDTF">2026-09-11T15:08:27Z</dcterms:modified>
</cp:coreProperties>
</file>