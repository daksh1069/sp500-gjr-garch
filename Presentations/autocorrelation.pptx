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transcript:
“Autocorrelation means that something is correlated with its own past values. In regression, we usually care about autocorrelation in the residuals, or the errors our model makes.
A residual is just the actual value minus the value the model predicted. If knowing yesterday’s residual gives us information about today’s residual, then the errors are autocorrelated. Mathematically, we can think about that as the correlation between e_t and e_(t-1) being nonzero.
The graph on the right shows positive autocorrelation. Notice that the residuals stay positive for several periods, and then stay negative for several periods. They are not just randomly bouncing around zero. That pattern across time is the main intuition behind autocorrelation.”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transcript:
“There are three patterns I want us to recognize. Positive autocorrelation means an error tends to be followed by another error in the same direction. So positive tends to follow positive and negative tends to follow negative.
If there is little or no autocorrelation, the residuals should look much more random over time, without a clear pattern.
Negative autocorrelation is the opposite of positive autocorrelation. The errors tend to alternate direction, so a positive error is more likely to be followed by a negative one and vice versa.
Why do we care about this in regression? OLS usually assumes that the errors from different observations are not systematically related. Autocorrelation violates that independence assumption. That can make our standard errors, t-tests, and p-values misleading even if the coefficient estimates themselves are still reasonable.
So the easiest way to recognize autocorrelation is to plot the residuals over time and look for patterns. You can also check the correlation between the current residual and a lagged residual. The main takeaway is simply that autocorrelation means the errors have a time pattern rather than behaving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56AE6"/>
          </a:solidFill>
          <a:ln w="12700">
            <a:solidFill>
              <a:srgbClr val="356AE6"/>
            </a:solidFill>
            <a:prstDash val="solid"/>
          </a:ln>
        </p:spPr>
      </p:sp>
      <p:sp>
        <p:nvSpPr>
          <p:cNvPr id="3" name="Text 1"/>
          <p:cNvSpPr/>
          <p:nvPr/>
        </p:nvSpPr>
        <p:spPr>
          <a:xfrm>
            <a:off x="384048" y="6574536"/>
            <a:ext cx="2011680" cy="146304"/>
          </a:xfrm>
          <a:prstGeom prst="rect">
            <a:avLst/>
          </a:prstGeom>
          <a:noFill/>
          <a:ln/>
        </p:spPr>
        <p:txBody>
          <a:bodyPr wrap="square" lIns="0" tIns="0" rIns="0" bIns="0" rtlCol="0" anchor="ctr"/>
          <a:lstStyle/>
          <a:p>
            <a:pPr indent="0" marL="0">
              <a:buNone/>
            </a:pPr>
            <a:r>
              <a:rPr lang="en-US" sz="700" dirty="0">
                <a:solidFill>
                  <a:srgbClr val="7D8797"/>
                </a:solidFill>
                <a:latin typeface="Aptos" pitchFamily="34" charset="0"/>
                <a:ea typeface="Aptos" pitchFamily="34" charset="-122"/>
                <a:cs typeface="Aptos" pitchFamily="34" charset="-120"/>
              </a:rPr>
              <a:t>AUTOCORRELATION</a:t>
            </a:r>
            <a:endParaRPr lang="en-US" sz="700" dirty="0"/>
          </a:p>
        </p:txBody>
      </p:sp>
      <p:sp>
        <p:nvSpPr>
          <p:cNvPr id="4" name="Text 2"/>
          <p:cNvSpPr/>
          <p:nvPr/>
        </p:nvSpPr>
        <p:spPr>
          <a:xfrm>
            <a:off x="10515600" y="6574536"/>
            <a:ext cx="1280160" cy="146304"/>
          </a:xfrm>
          <a:prstGeom prst="rect">
            <a:avLst/>
          </a:prstGeom>
          <a:noFill/>
          <a:ln/>
        </p:spPr>
        <p:txBody>
          <a:bodyPr wrap="square" lIns="0" tIns="0" rIns="0" bIns="0" rtlCol="0" anchor="ctr"/>
          <a:lstStyle/>
          <a:p>
            <a:pPr algn="r" indent="0" marL="0">
              <a:buNone/>
            </a:pPr>
            <a:r>
              <a:rPr lang="en-US" sz="700" dirty="0">
                <a:solidFill>
                  <a:srgbClr val="A2A9B5"/>
                </a:solidFill>
                <a:latin typeface="Aptos" pitchFamily="34" charset="0"/>
                <a:ea typeface="Aptos" pitchFamily="34" charset="-122"/>
                <a:cs typeface="Aptos" pitchFamily="34" charset="-120"/>
              </a:rPr>
              <a:t>Team teaching slides</a:t>
            </a:r>
            <a:endParaRPr lang="en-US" sz="700" dirty="0"/>
          </a:p>
        </p:txBody>
      </p:sp>
      <p:sp>
        <p:nvSpPr>
          <p:cNvPr id="25" name="Slide Number Placeholder 0"/>
          <p:cNvSpPr>
            <a:spLocks noGrp="1"/>
          </p:cNvSpPr>
          <p:nvPr>
            <p:ph type="sldNum" sz="quarter" idx="4294967295"/>
          </p:nvPr>
        </p:nvSpPr>
        <p:spPr>
          <a:xfrm>
            <a:off x="11850624"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8F98A7"/>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8F98A7"/>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347472"/>
            <a:ext cx="11064240" cy="438912"/>
          </a:xfrm>
          <a:prstGeom prst="rect">
            <a:avLst/>
          </a:prstGeom>
          <a:noFill/>
          <a:ln/>
        </p:spPr>
        <p:txBody>
          <a:bodyPr wrap="square" lIns="0" tIns="0" rIns="0" bIns="0" rtlCol="0" anchor="ct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Autocorrelation: when errors carry over through time</a:t>
            </a:r>
            <a:endParaRPr lang="en-US" sz="2400" dirty="0"/>
          </a:p>
        </p:txBody>
      </p:sp>
      <p:sp>
        <p:nvSpPr>
          <p:cNvPr id="3" name="Text 1"/>
          <p:cNvSpPr/>
          <p:nvPr/>
        </p:nvSpPr>
        <p:spPr>
          <a:xfrm>
            <a:off x="566928" y="832104"/>
            <a:ext cx="10698480" cy="237744"/>
          </a:xfrm>
          <a:prstGeom prst="rect">
            <a:avLst/>
          </a:prstGeom>
          <a:noFill/>
          <a:ln/>
        </p:spPr>
        <p:txBody>
          <a:bodyPr wrap="square" lIns="0" tIns="0" rIns="0" bIns="0" rtlCol="0" anchor="ctr"/>
          <a:lstStyle/>
          <a:p>
            <a:pPr indent="0" marL="0">
              <a:buNone/>
            </a:pPr>
            <a:r>
              <a:rPr lang="en-US" sz="1050" dirty="0">
                <a:solidFill>
                  <a:srgbClr val="6D7788"/>
                </a:solidFill>
                <a:latin typeface="Aptos" pitchFamily="34" charset="0"/>
                <a:ea typeface="Aptos" pitchFamily="34" charset="-122"/>
                <a:cs typeface="Aptos" pitchFamily="34" charset="-120"/>
              </a:rPr>
              <a:t>In regression, the key idea is whether today’s residual is related to past residuals.</a:t>
            </a:r>
            <a:endParaRPr lang="en-US" sz="1050" dirty="0"/>
          </a:p>
        </p:txBody>
      </p:sp>
      <p:sp>
        <p:nvSpPr>
          <p:cNvPr id="4" name="Shape 2"/>
          <p:cNvSpPr/>
          <p:nvPr/>
        </p:nvSpPr>
        <p:spPr>
          <a:xfrm>
            <a:off x="566928" y="1298448"/>
            <a:ext cx="3657600" cy="4517136"/>
          </a:xfrm>
          <a:prstGeom prst="roundRect">
            <a:avLst>
              <a:gd name="adj" fmla="val 2000"/>
            </a:avLst>
          </a:prstGeom>
          <a:solidFill>
            <a:srgbClr val="FFFFFF"/>
          </a:solidFill>
          <a:ln w="12700">
            <a:solidFill>
              <a:srgbClr val="DCE3EC"/>
            </a:solidFill>
            <a:prstDash val="solid"/>
          </a:ln>
          <a:effectLst>
            <a:outerShdw sx="100000" sy="100000" kx="0" ky="0" algn="bl" rotWithShape="0" blurRad="12700" dist="50800" dir="2700000">
              <a:srgbClr val="C8D0DA">
                <a:alpha val="12000"/>
              </a:srgbClr>
            </a:outerShdw>
          </a:effectLst>
        </p:spPr>
      </p:sp>
      <p:sp>
        <p:nvSpPr>
          <p:cNvPr id="5" name="Shape 3"/>
          <p:cNvSpPr/>
          <p:nvPr/>
        </p:nvSpPr>
        <p:spPr>
          <a:xfrm>
            <a:off x="841248" y="1572768"/>
            <a:ext cx="384048" cy="384048"/>
          </a:xfrm>
          <a:prstGeom prst="ellipse">
            <a:avLst/>
          </a:prstGeom>
          <a:solidFill>
            <a:srgbClr val="EAF1FF"/>
          </a:solidFill>
          <a:ln w="12700">
            <a:solidFill>
              <a:srgbClr val="EAF1FF"/>
            </a:solidFill>
            <a:prstDash val="solid"/>
          </a:ln>
        </p:spPr>
      </p:sp>
      <p:sp>
        <p:nvSpPr>
          <p:cNvPr id="6" name="Text 4"/>
          <p:cNvSpPr/>
          <p:nvPr/>
        </p:nvSpPr>
        <p:spPr>
          <a:xfrm>
            <a:off x="960120" y="1645920"/>
            <a:ext cx="146304" cy="146304"/>
          </a:xfrm>
          <a:prstGeom prst="rect">
            <a:avLst/>
          </a:prstGeom>
          <a:noFill/>
          <a:ln/>
        </p:spPr>
        <p:txBody>
          <a:bodyPr wrap="square" lIns="0" tIns="0" rIns="0" bIns="0" rtlCol="0" anchor="ctr"/>
          <a:lstStyle/>
          <a:p>
            <a:pPr algn="ctr" indent="0" marL="0">
              <a:buNone/>
            </a:pPr>
            <a:r>
              <a:rPr lang="en-US" sz="1000" b="1" dirty="0">
                <a:solidFill>
                  <a:srgbClr val="356AE6"/>
                </a:solidFill>
              </a:rPr>
              <a:t>1</a:t>
            </a:r>
            <a:endParaRPr lang="en-US" sz="1000" dirty="0"/>
          </a:p>
        </p:txBody>
      </p:sp>
      <p:sp>
        <p:nvSpPr>
          <p:cNvPr id="7" name="Text 5"/>
          <p:cNvSpPr/>
          <p:nvPr/>
        </p:nvSpPr>
        <p:spPr>
          <a:xfrm>
            <a:off x="1389888" y="1572768"/>
            <a:ext cx="1371600" cy="256032"/>
          </a:xfrm>
          <a:prstGeom prst="rect">
            <a:avLst/>
          </a:prstGeom>
          <a:noFill/>
          <a:ln/>
        </p:spPr>
        <p:txBody>
          <a:bodyPr wrap="square" lIns="0" tIns="0" rIns="0" bIns="0" rtlCol="0" anchor="ctr"/>
          <a:lstStyle/>
          <a:p>
            <a:pPr indent="0" marL="0">
              <a:buNone/>
            </a:pPr>
            <a:r>
              <a:rPr lang="en-US" sz="1400" b="1" dirty="0">
                <a:solidFill>
                  <a:srgbClr val="17233C"/>
                </a:solidFill>
              </a:rPr>
              <a:t>Core idea</a:t>
            </a:r>
            <a:endParaRPr lang="en-US" sz="1400" dirty="0"/>
          </a:p>
        </p:txBody>
      </p:sp>
      <p:sp>
        <p:nvSpPr>
          <p:cNvPr id="8" name="Text 6"/>
          <p:cNvSpPr/>
          <p:nvPr/>
        </p:nvSpPr>
        <p:spPr>
          <a:xfrm>
            <a:off x="868680" y="2084832"/>
            <a:ext cx="2926080" cy="804672"/>
          </a:xfrm>
          <a:prstGeom prst="rect">
            <a:avLst/>
          </a:prstGeom>
          <a:noFill/>
          <a:ln/>
        </p:spPr>
        <p:txBody>
          <a:bodyPr wrap="square" lIns="0" tIns="0" rIns="0" bIns="0" rtlCol="0" anchor="ctr"/>
          <a:lstStyle/>
          <a:p>
            <a:pPr indent="0" marL="0">
              <a:buNone/>
            </a:pPr>
            <a:r>
              <a:rPr lang="en-US" sz="1800" b="1" dirty="0">
                <a:solidFill>
                  <a:srgbClr val="3D4758"/>
                </a:solidFill>
              </a:rPr>
              <a:t>A residual today is related to a residual from an earlier time.</a:t>
            </a:r>
            <a:endParaRPr lang="en-US" sz="1800" dirty="0"/>
          </a:p>
        </p:txBody>
      </p:sp>
      <p:sp>
        <p:nvSpPr>
          <p:cNvPr id="9" name="Shape 7"/>
          <p:cNvSpPr/>
          <p:nvPr/>
        </p:nvSpPr>
        <p:spPr>
          <a:xfrm>
            <a:off x="868680" y="3172968"/>
            <a:ext cx="2907792" cy="603504"/>
          </a:xfrm>
          <a:prstGeom prst="roundRect">
            <a:avLst/>
          </a:prstGeom>
          <a:solidFill>
            <a:srgbClr val="F3F6FA"/>
          </a:solidFill>
          <a:ln w="12700">
            <a:solidFill>
              <a:srgbClr val="E2E7EE"/>
            </a:solidFill>
            <a:prstDash val="solid"/>
          </a:ln>
        </p:spPr>
      </p:sp>
      <p:sp>
        <p:nvSpPr>
          <p:cNvPr id="10" name="Text 8"/>
          <p:cNvSpPr/>
          <p:nvPr/>
        </p:nvSpPr>
        <p:spPr>
          <a:xfrm>
            <a:off x="1078992" y="3346704"/>
            <a:ext cx="2514600" cy="219456"/>
          </a:xfrm>
          <a:prstGeom prst="rect">
            <a:avLst/>
          </a:prstGeom>
          <a:noFill/>
          <a:ln/>
        </p:spPr>
        <p:txBody>
          <a:bodyPr wrap="square" lIns="0" tIns="0" rIns="0" bIns="0" rtlCol="0" anchor="ctr"/>
          <a:lstStyle/>
          <a:p>
            <a:pPr algn="ctr" indent="0" marL="0">
              <a:buNone/>
            </a:pPr>
            <a:r>
              <a:rPr lang="en-US" sz="1700" b="1" dirty="0">
                <a:solidFill>
                  <a:srgbClr val="17233C"/>
                </a:solidFill>
              </a:rPr>
              <a:t>Corr(eₜ , eₜ₋₁) ≠ 0</a:t>
            </a:r>
            <a:endParaRPr lang="en-US" sz="1700" dirty="0"/>
          </a:p>
        </p:txBody>
      </p:sp>
      <p:sp>
        <p:nvSpPr>
          <p:cNvPr id="11" name="Text 9"/>
          <p:cNvSpPr/>
          <p:nvPr/>
        </p:nvSpPr>
        <p:spPr>
          <a:xfrm>
            <a:off x="868680" y="4169664"/>
            <a:ext cx="2907792" cy="713232"/>
          </a:xfrm>
          <a:prstGeom prst="rect">
            <a:avLst/>
          </a:prstGeom>
          <a:noFill/>
          <a:ln/>
        </p:spPr>
        <p:txBody>
          <a:bodyPr wrap="square" lIns="0" tIns="0" rIns="0" bIns="0" rtlCol="0" anchor="ctr"/>
          <a:lstStyle/>
          <a:p>
            <a:pPr indent="0" marL="0">
              <a:buNone/>
            </a:pPr>
            <a:r>
              <a:rPr lang="en-US" sz="1250" dirty="0">
                <a:solidFill>
                  <a:srgbClr val="6D7788"/>
                </a:solidFill>
              </a:rPr>
              <a:t>If knowing yesterday’s error helps you predict today’s error, the errors are autocorrelated.</a:t>
            </a:r>
            <a:endParaRPr lang="en-US" sz="1250" dirty="0"/>
          </a:p>
        </p:txBody>
      </p:sp>
      <p:sp>
        <p:nvSpPr>
          <p:cNvPr id="12" name="Shape 10"/>
          <p:cNvSpPr/>
          <p:nvPr/>
        </p:nvSpPr>
        <p:spPr>
          <a:xfrm>
            <a:off x="868680" y="5138928"/>
            <a:ext cx="2907792" cy="402336"/>
          </a:xfrm>
          <a:prstGeom prst="roundRect">
            <a:avLst/>
          </a:prstGeom>
          <a:solidFill>
            <a:srgbClr val="FFF3DB"/>
          </a:solidFill>
          <a:ln w="12700">
            <a:solidFill>
              <a:srgbClr val="FFF3DB"/>
            </a:solidFill>
            <a:prstDash val="solid"/>
          </a:ln>
        </p:spPr>
      </p:sp>
      <p:sp>
        <p:nvSpPr>
          <p:cNvPr id="13" name="Text 11"/>
          <p:cNvSpPr/>
          <p:nvPr/>
        </p:nvSpPr>
        <p:spPr>
          <a:xfrm>
            <a:off x="987552" y="5248656"/>
            <a:ext cx="2651760" cy="146304"/>
          </a:xfrm>
          <a:prstGeom prst="rect">
            <a:avLst/>
          </a:prstGeom>
          <a:noFill/>
          <a:ln/>
        </p:spPr>
        <p:txBody>
          <a:bodyPr wrap="square" lIns="0" tIns="0" rIns="0" bIns="0" rtlCol="0" anchor="ctr"/>
          <a:lstStyle/>
          <a:p>
            <a:pPr algn="ctr" indent="0" marL="0">
              <a:buNone/>
            </a:pPr>
            <a:r>
              <a:rPr lang="en-US" sz="1050" b="1" dirty="0">
                <a:solidFill>
                  <a:srgbClr val="A76700"/>
                </a:solidFill>
              </a:rPr>
              <a:t>Think: pattern across time, not random noise</a:t>
            </a:r>
            <a:endParaRPr lang="en-US" sz="1050" dirty="0"/>
          </a:p>
        </p:txBody>
      </p:sp>
      <p:sp>
        <p:nvSpPr>
          <p:cNvPr id="14" name="Shape 12"/>
          <p:cNvSpPr/>
          <p:nvPr/>
        </p:nvSpPr>
        <p:spPr>
          <a:xfrm>
            <a:off x="4480560" y="1298448"/>
            <a:ext cx="7150608" cy="4517136"/>
          </a:xfrm>
          <a:prstGeom prst="roundRect">
            <a:avLst>
              <a:gd name="adj" fmla="val 1619"/>
            </a:avLst>
          </a:prstGeom>
          <a:solidFill>
            <a:srgbClr val="FFFFFF"/>
          </a:solidFill>
          <a:ln w="12700">
            <a:solidFill>
              <a:srgbClr val="DCE3EC"/>
            </a:solidFill>
            <a:prstDash val="solid"/>
          </a:ln>
          <a:effectLst>
            <a:outerShdw sx="100000" sy="100000" kx="0" ky="0" algn="bl" rotWithShape="0" blurRad="12700" dist="50800" dir="2700000">
              <a:srgbClr val="C8D0DA">
                <a:alpha val="12000"/>
              </a:srgbClr>
            </a:outerShdw>
          </a:effectLst>
        </p:spPr>
      </p:sp>
      <p:sp>
        <p:nvSpPr>
          <p:cNvPr id="15" name="Text 13"/>
          <p:cNvSpPr/>
          <p:nvPr/>
        </p:nvSpPr>
        <p:spPr>
          <a:xfrm>
            <a:off x="4773168" y="1572768"/>
            <a:ext cx="3931920" cy="256032"/>
          </a:xfrm>
          <a:prstGeom prst="rect">
            <a:avLst/>
          </a:prstGeom>
          <a:noFill/>
          <a:ln/>
        </p:spPr>
        <p:txBody>
          <a:bodyPr wrap="square" lIns="0" tIns="0" rIns="0" bIns="0" rtlCol="0" anchor="ctr"/>
          <a:lstStyle/>
          <a:p>
            <a:pPr indent="0" marL="0">
              <a:buNone/>
            </a:pPr>
            <a:r>
              <a:rPr lang="en-US" sz="1400" b="1" dirty="0">
                <a:solidFill>
                  <a:srgbClr val="17233C"/>
                </a:solidFill>
              </a:rPr>
              <a:t>Visual intuition: positive autocorrelation</a:t>
            </a:r>
            <a:endParaRPr lang="en-US" sz="1400" dirty="0"/>
          </a:p>
        </p:txBody>
      </p:sp>
      <p:sp>
        <p:nvSpPr>
          <p:cNvPr id="16" name="Text 14"/>
          <p:cNvSpPr/>
          <p:nvPr/>
        </p:nvSpPr>
        <p:spPr>
          <a:xfrm>
            <a:off x="8156448" y="1572768"/>
            <a:ext cx="2907792" cy="502920"/>
          </a:xfrm>
          <a:prstGeom prst="rect">
            <a:avLst/>
          </a:prstGeom>
          <a:noFill/>
          <a:ln/>
        </p:spPr>
        <p:txBody>
          <a:bodyPr wrap="square" lIns="0" tIns="0" rIns="0" bIns="0" rtlCol="0" anchor="ctr"/>
          <a:lstStyle/>
          <a:p>
            <a:pPr indent="0" marL="0">
              <a:buNone/>
            </a:pPr>
            <a:r>
              <a:rPr lang="en-US" sz="1050" dirty="0">
                <a:solidFill>
                  <a:srgbClr val="6D7788"/>
                </a:solidFill>
              </a:rPr>
              <a:t>Positive errors tend to follow positive errors; negative errors tend to follow negative errors.</a:t>
            </a:r>
            <a:endParaRPr lang="en-US" sz="1050" dirty="0"/>
          </a:p>
        </p:txBody>
      </p:sp>
      <p:sp>
        <p:nvSpPr>
          <p:cNvPr id="17" name="Shape 15"/>
          <p:cNvSpPr/>
          <p:nvPr/>
        </p:nvSpPr>
        <p:spPr>
          <a:xfrm>
            <a:off x="4983480" y="3547872"/>
            <a:ext cx="6099048" cy="0"/>
          </a:xfrm>
          <a:prstGeom prst="line">
            <a:avLst/>
          </a:prstGeom>
          <a:noFill/>
          <a:ln w="13970">
            <a:solidFill>
              <a:srgbClr val="C7D0DC"/>
            </a:solidFill>
            <a:prstDash val="solid"/>
            <a:headEnd type="none"/>
            <a:tailEnd type="none"/>
          </a:ln>
        </p:spPr>
      </p:sp>
      <p:sp>
        <p:nvSpPr>
          <p:cNvPr id="18" name="Text 16"/>
          <p:cNvSpPr/>
          <p:nvPr/>
        </p:nvSpPr>
        <p:spPr>
          <a:xfrm>
            <a:off x="4709160" y="3474720"/>
            <a:ext cx="164592" cy="146304"/>
          </a:xfrm>
          <a:prstGeom prst="rect">
            <a:avLst/>
          </a:prstGeom>
          <a:noFill/>
          <a:ln/>
        </p:spPr>
        <p:txBody>
          <a:bodyPr wrap="square" lIns="0" tIns="0" rIns="0" bIns="0" rtlCol="0" anchor="ctr"/>
          <a:lstStyle/>
          <a:p>
            <a:pPr algn="r" indent="0" marL="0">
              <a:buNone/>
            </a:pPr>
            <a:r>
              <a:rPr lang="en-US" sz="800" dirty="0">
                <a:solidFill>
                  <a:srgbClr val="6D7788"/>
                </a:solidFill>
              </a:rPr>
              <a:t>0</a:t>
            </a:r>
            <a:endParaRPr lang="en-US" sz="800" dirty="0"/>
          </a:p>
        </p:txBody>
      </p:sp>
      <p:sp>
        <p:nvSpPr>
          <p:cNvPr id="19" name="Text 17"/>
          <p:cNvSpPr/>
          <p:nvPr/>
        </p:nvSpPr>
        <p:spPr>
          <a:xfrm>
            <a:off x="4709160" y="2286000"/>
            <a:ext cx="164592" cy="146304"/>
          </a:xfrm>
          <a:prstGeom prst="rect">
            <a:avLst/>
          </a:prstGeom>
          <a:noFill/>
          <a:ln/>
        </p:spPr>
        <p:txBody>
          <a:bodyPr wrap="square" lIns="0" tIns="0" rIns="0" bIns="0" rtlCol="0" anchor="ctr"/>
          <a:lstStyle/>
          <a:p>
            <a:pPr algn="r" indent="0" marL="0">
              <a:buNone/>
            </a:pPr>
            <a:r>
              <a:rPr lang="en-US" sz="900" dirty="0">
                <a:solidFill>
                  <a:srgbClr val="2AA876"/>
                </a:solidFill>
              </a:rPr>
              <a:t>+</a:t>
            </a:r>
            <a:endParaRPr lang="en-US" sz="900" dirty="0"/>
          </a:p>
        </p:txBody>
      </p:sp>
      <p:sp>
        <p:nvSpPr>
          <p:cNvPr id="20" name="Text 18"/>
          <p:cNvSpPr/>
          <p:nvPr/>
        </p:nvSpPr>
        <p:spPr>
          <a:xfrm>
            <a:off x="4709160" y="4590288"/>
            <a:ext cx="164592" cy="146304"/>
          </a:xfrm>
          <a:prstGeom prst="rect">
            <a:avLst/>
          </a:prstGeom>
          <a:noFill/>
          <a:ln/>
        </p:spPr>
        <p:txBody>
          <a:bodyPr wrap="square" lIns="0" tIns="0" rIns="0" bIns="0" rtlCol="0" anchor="ctr"/>
          <a:lstStyle/>
          <a:p>
            <a:pPr algn="r" indent="0" marL="0">
              <a:buNone/>
            </a:pPr>
            <a:r>
              <a:rPr lang="en-US" sz="900" dirty="0">
                <a:solidFill>
                  <a:srgbClr val="E55353"/>
                </a:solidFill>
              </a:rPr>
              <a:t>−</a:t>
            </a:r>
            <a:endParaRPr lang="en-US" sz="900" dirty="0"/>
          </a:p>
        </p:txBody>
      </p:sp>
      <p:sp>
        <p:nvSpPr>
          <p:cNvPr id="21" name="Shape 19"/>
          <p:cNvSpPr/>
          <p:nvPr/>
        </p:nvSpPr>
        <p:spPr>
          <a:xfrm>
            <a:off x="5312664" y="3085478"/>
            <a:ext cx="680085" cy="-220188"/>
          </a:xfrm>
          <a:prstGeom prst="line">
            <a:avLst/>
          </a:prstGeom>
          <a:noFill/>
          <a:ln w="21590">
            <a:solidFill>
              <a:srgbClr val="2AA876"/>
            </a:solidFill>
            <a:prstDash val="solid"/>
            <a:headEnd type="none"/>
            <a:tailEnd type="none"/>
          </a:ln>
        </p:spPr>
      </p:sp>
      <p:sp>
        <p:nvSpPr>
          <p:cNvPr id="22" name="Shape 20"/>
          <p:cNvSpPr/>
          <p:nvPr/>
        </p:nvSpPr>
        <p:spPr>
          <a:xfrm>
            <a:off x="5992749" y="2865291"/>
            <a:ext cx="680085" cy="121103"/>
          </a:xfrm>
          <a:prstGeom prst="line">
            <a:avLst/>
          </a:prstGeom>
          <a:noFill/>
          <a:ln w="21590">
            <a:solidFill>
              <a:srgbClr val="2AA876"/>
            </a:solidFill>
            <a:prstDash val="solid"/>
            <a:headEnd type="none"/>
            <a:tailEnd type="none"/>
          </a:ln>
        </p:spPr>
      </p:sp>
      <p:sp>
        <p:nvSpPr>
          <p:cNvPr id="23" name="Shape 21"/>
          <p:cNvSpPr/>
          <p:nvPr/>
        </p:nvSpPr>
        <p:spPr>
          <a:xfrm>
            <a:off x="6672834" y="2986394"/>
            <a:ext cx="680085" cy="-209178"/>
          </a:xfrm>
          <a:prstGeom prst="line">
            <a:avLst/>
          </a:prstGeom>
          <a:noFill/>
          <a:ln w="21590">
            <a:solidFill>
              <a:srgbClr val="2AA876"/>
            </a:solidFill>
            <a:prstDash val="solid"/>
            <a:headEnd type="none"/>
            <a:tailEnd type="none"/>
          </a:ln>
        </p:spPr>
      </p:sp>
      <p:sp>
        <p:nvSpPr>
          <p:cNvPr id="24" name="Shape 22"/>
          <p:cNvSpPr/>
          <p:nvPr/>
        </p:nvSpPr>
        <p:spPr>
          <a:xfrm>
            <a:off x="7352919" y="2777216"/>
            <a:ext cx="680085" cy="132113"/>
          </a:xfrm>
          <a:prstGeom prst="line">
            <a:avLst/>
          </a:prstGeom>
          <a:noFill/>
          <a:ln w="21590">
            <a:solidFill>
              <a:srgbClr val="2AA876"/>
            </a:solidFill>
            <a:prstDash val="solid"/>
            <a:headEnd type="none"/>
            <a:tailEnd type="none"/>
          </a:ln>
        </p:spPr>
      </p:sp>
      <p:sp>
        <p:nvSpPr>
          <p:cNvPr id="25" name="Shape 23"/>
          <p:cNvSpPr/>
          <p:nvPr/>
        </p:nvSpPr>
        <p:spPr>
          <a:xfrm>
            <a:off x="8033004" y="2909328"/>
            <a:ext cx="680085" cy="1244059"/>
          </a:xfrm>
          <a:prstGeom prst="line">
            <a:avLst/>
          </a:prstGeom>
          <a:noFill/>
          <a:ln w="21590">
            <a:solidFill>
              <a:srgbClr val="7A8DAA"/>
            </a:solidFill>
            <a:prstDash val="solid"/>
            <a:headEnd type="none"/>
            <a:tailEnd type="none"/>
          </a:ln>
        </p:spPr>
      </p:sp>
      <p:sp>
        <p:nvSpPr>
          <p:cNvPr id="26" name="Shape 24"/>
          <p:cNvSpPr/>
          <p:nvPr/>
        </p:nvSpPr>
        <p:spPr>
          <a:xfrm>
            <a:off x="8713089" y="4153388"/>
            <a:ext cx="680085" cy="187159"/>
          </a:xfrm>
          <a:prstGeom prst="line">
            <a:avLst/>
          </a:prstGeom>
          <a:noFill/>
          <a:ln w="21590">
            <a:solidFill>
              <a:srgbClr val="E55353"/>
            </a:solidFill>
            <a:prstDash val="solid"/>
            <a:headEnd type="none"/>
            <a:tailEnd type="none"/>
          </a:ln>
        </p:spPr>
      </p:sp>
      <p:sp>
        <p:nvSpPr>
          <p:cNvPr id="27" name="Shape 25"/>
          <p:cNvSpPr/>
          <p:nvPr/>
        </p:nvSpPr>
        <p:spPr>
          <a:xfrm>
            <a:off x="9393174" y="4340547"/>
            <a:ext cx="680085" cy="176150"/>
          </a:xfrm>
          <a:prstGeom prst="line">
            <a:avLst/>
          </a:prstGeom>
          <a:noFill/>
          <a:ln w="21590">
            <a:solidFill>
              <a:srgbClr val="E55353"/>
            </a:solidFill>
            <a:prstDash val="solid"/>
            <a:headEnd type="none"/>
            <a:tailEnd type="none"/>
          </a:ln>
        </p:spPr>
      </p:sp>
      <p:sp>
        <p:nvSpPr>
          <p:cNvPr id="28" name="Shape 26"/>
          <p:cNvSpPr/>
          <p:nvPr/>
        </p:nvSpPr>
        <p:spPr>
          <a:xfrm>
            <a:off x="10073259" y="4516697"/>
            <a:ext cx="680085" cy="-121103"/>
          </a:xfrm>
          <a:prstGeom prst="line">
            <a:avLst/>
          </a:prstGeom>
          <a:noFill/>
          <a:ln w="21590">
            <a:solidFill>
              <a:srgbClr val="E55353"/>
            </a:solidFill>
            <a:prstDash val="solid"/>
            <a:headEnd type="none"/>
            <a:tailEnd type="none"/>
          </a:ln>
        </p:spPr>
      </p:sp>
      <p:sp>
        <p:nvSpPr>
          <p:cNvPr id="29" name="Shape 27"/>
          <p:cNvSpPr/>
          <p:nvPr/>
        </p:nvSpPr>
        <p:spPr>
          <a:xfrm>
            <a:off x="5257800" y="3030614"/>
            <a:ext cx="109728" cy="109728"/>
          </a:xfrm>
          <a:prstGeom prst="ellipse">
            <a:avLst/>
          </a:prstGeom>
          <a:solidFill>
            <a:srgbClr val="2AA876"/>
          </a:solidFill>
          <a:ln w="12700">
            <a:solidFill>
              <a:srgbClr val="2AA876"/>
            </a:solidFill>
            <a:prstDash val="solid"/>
          </a:ln>
        </p:spPr>
      </p:sp>
      <p:sp>
        <p:nvSpPr>
          <p:cNvPr id="30" name="Shape 28"/>
          <p:cNvSpPr/>
          <p:nvPr/>
        </p:nvSpPr>
        <p:spPr>
          <a:xfrm>
            <a:off x="5937885" y="2810427"/>
            <a:ext cx="109728" cy="109728"/>
          </a:xfrm>
          <a:prstGeom prst="ellipse">
            <a:avLst/>
          </a:prstGeom>
          <a:solidFill>
            <a:srgbClr val="2AA876"/>
          </a:solidFill>
          <a:ln w="12700">
            <a:solidFill>
              <a:srgbClr val="2AA876"/>
            </a:solidFill>
            <a:prstDash val="solid"/>
          </a:ln>
        </p:spPr>
      </p:sp>
      <p:sp>
        <p:nvSpPr>
          <p:cNvPr id="31" name="Shape 29"/>
          <p:cNvSpPr/>
          <p:nvPr/>
        </p:nvSpPr>
        <p:spPr>
          <a:xfrm>
            <a:off x="6617970" y="2931530"/>
            <a:ext cx="109728" cy="109728"/>
          </a:xfrm>
          <a:prstGeom prst="ellipse">
            <a:avLst/>
          </a:prstGeom>
          <a:solidFill>
            <a:srgbClr val="2AA876"/>
          </a:solidFill>
          <a:ln w="12700">
            <a:solidFill>
              <a:srgbClr val="2AA876"/>
            </a:solidFill>
            <a:prstDash val="solid"/>
          </a:ln>
        </p:spPr>
      </p:sp>
      <p:sp>
        <p:nvSpPr>
          <p:cNvPr id="32" name="Shape 30"/>
          <p:cNvSpPr/>
          <p:nvPr/>
        </p:nvSpPr>
        <p:spPr>
          <a:xfrm>
            <a:off x="7298055" y="2722352"/>
            <a:ext cx="109728" cy="109728"/>
          </a:xfrm>
          <a:prstGeom prst="ellipse">
            <a:avLst/>
          </a:prstGeom>
          <a:solidFill>
            <a:srgbClr val="2AA876"/>
          </a:solidFill>
          <a:ln w="12700">
            <a:solidFill>
              <a:srgbClr val="2AA876"/>
            </a:solidFill>
            <a:prstDash val="solid"/>
          </a:ln>
        </p:spPr>
      </p:sp>
      <p:sp>
        <p:nvSpPr>
          <p:cNvPr id="33" name="Shape 31"/>
          <p:cNvSpPr/>
          <p:nvPr/>
        </p:nvSpPr>
        <p:spPr>
          <a:xfrm>
            <a:off x="7978140" y="2854464"/>
            <a:ext cx="109728" cy="109728"/>
          </a:xfrm>
          <a:prstGeom prst="ellipse">
            <a:avLst/>
          </a:prstGeom>
          <a:solidFill>
            <a:srgbClr val="2AA876"/>
          </a:solidFill>
          <a:ln w="12700">
            <a:solidFill>
              <a:srgbClr val="2AA876"/>
            </a:solidFill>
            <a:prstDash val="solid"/>
          </a:ln>
        </p:spPr>
      </p:sp>
      <p:sp>
        <p:nvSpPr>
          <p:cNvPr id="34" name="Shape 32"/>
          <p:cNvSpPr/>
          <p:nvPr/>
        </p:nvSpPr>
        <p:spPr>
          <a:xfrm>
            <a:off x="8658225" y="4098524"/>
            <a:ext cx="109728" cy="109728"/>
          </a:xfrm>
          <a:prstGeom prst="ellipse">
            <a:avLst/>
          </a:prstGeom>
          <a:solidFill>
            <a:srgbClr val="E55353"/>
          </a:solidFill>
          <a:ln w="12700">
            <a:solidFill>
              <a:srgbClr val="E55353"/>
            </a:solidFill>
            <a:prstDash val="solid"/>
          </a:ln>
        </p:spPr>
      </p:sp>
      <p:sp>
        <p:nvSpPr>
          <p:cNvPr id="35" name="Shape 33"/>
          <p:cNvSpPr/>
          <p:nvPr/>
        </p:nvSpPr>
        <p:spPr>
          <a:xfrm>
            <a:off x="9338310" y="4285683"/>
            <a:ext cx="109728" cy="109728"/>
          </a:xfrm>
          <a:prstGeom prst="ellipse">
            <a:avLst/>
          </a:prstGeom>
          <a:solidFill>
            <a:srgbClr val="E55353"/>
          </a:solidFill>
          <a:ln w="12700">
            <a:solidFill>
              <a:srgbClr val="E55353"/>
            </a:solidFill>
            <a:prstDash val="solid"/>
          </a:ln>
        </p:spPr>
      </p:sp>
      <p:sp>
        <p:nvSpPr>
          <p:cNvPr id="36" name="Shape 34"/>
          <p:cNvSpPr/>
          <p:nvPr/>
        </p:nvSpPr>
        <p:spPr>
          <a:xfrm>
            <a:off x="10018395" y="4461833"/>
            <a:ext cx="109728" cy="109728"/>
          </a:xfrm>
          <a:prstGeom prst="ellipse">
            <a:avLst/>
          </a:prstGeom>
          <a:solidFill>
            <a:srgbClr val="E55353"/>
          </a:solidFill>
          <a:ln w="12700">
            <a:solidFill>
              <a:srgbClr val="E55353"/>
            </a:solidFill>
            <a:prstDash val="solid"/>
          </a:ln>
        </p:spPr>
      </p:sp>
      <p:sp>
        <p:nvSpPr>
          <p:cNvPr id="37" name="Shape 35"/>
          <p:cNvSpPr/>
          <p:nvPr/>
        </p:nvSpPr>
        <p:spPr>
          <a:xfrm>
            <a:off x="10698480" y="4340730"/>
            <a:ext cx="109728" cy="109728"/>
          </a:xfrm>
          <a:prstGeom prst="ellipse">
            <a:avLst/>
          </a:prstGeom>
          <a:solidFill>
            <a:srgbClr val="E55353"/>
          </a:solidFill>
          <a:ln w="12700">
            <a:solidFill>
              <a:srgbClr val="E55353"/>
            </a:solidFill>
            <a:prstDash val="solid"/>
          </a:ln>
        </p:spPr>
      </p:sp>
      <p:sp>
        <p:nvSpPr>
          <p:cNvPr id="38" name="Text 36"/>
          <p:cNvSpPr/>
          <p:nvPr/>
        </p:nvSpPr>
        <p:spPr>
          <a:xfrm>
            <a:off x="5239512"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1</a:t>
            </a:r>
            <a:endParaRPr lang="en-US" sz="750" dirty="0"/>
          </a:p>
        </p:txBody>
      </p:sp>
      <p:sp>
        <p:nvSpPr>
          <p:cNvPr id="39" name="Text 37"/>
          <p:cNvSpPr/>
          <p:nvPr/>
        </p:nvSpPr>
        <p:spPr>
          <a:xfrm>
            <a:off x="5919597"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2</a:t>
            </a:r>
            <a:endParaRPr lang="en-US" sz="750" dirty="0"/>
          </a:p>
        </p:txBody>
      </p:sp>
      <p:sp>
        <p:nvSpPr>
          <p:cNvPr id="40" name="Text 38"/>
          <p:cNvSpPr/>
          <p:nvPr/>
        </p:nvSpPr>
        <p:spPr>
          <a:xfrm>
            <a:off x="6599682"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3</a:t>
            </a:r>
            <a:endParaRPr lang="en-US" sz="750" dirty="0"/>
          </a:p>
        </p:txBody>
      </p:sp>
      <p:sp>
        <p:nvSpPr>
          <p:cNvPr id="41" name="Text 39"/>
          <p:cNvSpPr/>
          <p:nvPr/>
        </p:nvSpPr>
        <p:spPr>
          <a:xfrm>
            <a:off x="7279767"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4</a:t>
            </a:r>
            <a:endParaRPr lang="en-US" sz="750" dirty="0"/>
          </a:p>
        </p:txBody>
      </p:sp>
      <p:sp>
        <p:nvSpPr>
          <p:cNvPr id="42" name="Text 40"/>
          <p:cNvSpPr/>
          <p:nvPr/>
        </p:nvSpPr>
        <p:spPr>
          <a:xfrm>
            <a:off x="7959852"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5</a:t>
            </a:r>
            <a:endParaRPr lang="en-US" sz="750" dirty="0"/>
          </a:p>
        </p:txBody>
      </p:sp>
      <p:sp>
        <p:nvSpPr>
          <p:cNvPr id="43" name="Text 41"/>
          <p:cNvSpPr/>
          <p:nvPr/>
        </p:nvSpPr>
        <p:spPr>
          <a:xfrm>
            <a:off x="8639937"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6</a:t>
            </a:r>
            <a:endParaRPr lang="en-US" sz="750" dirty="0"/>
          </a:p>
        </p:txBody>
      </p:sp>
      <p:sp>
        <p:nvSpPr>
          <p:cNvPr id="44" name="Text 42"/>
          <p:cNvSpPr/>
          <p:nvPr/>
        </p:nvSpPr>
        <p:spPr>
          <a:xfrm>
            <a:off x="9320022"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7</a:t>
            </a:r>
            <a:endParaRPr lang="en-US" sz="750" dirty="0"/>
          </a:p>
        </p:txBody>
      </p:sp>
      <p:sp>
        <p:nvSpPr>
          <p:cNvPr id="45" name="Text 43"/>
          <p:cNvSpPr/>
          <p:nvPr/>
        </p:nvSpPr>
        <p:spPr>
          <a:xfrm>
            <a:off x="10000107"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8</a:t>
            </a:r>
            <a:endParaRPr lang="en-US" sz="750" dirty="0"/>
          </a:p>
        </p:txBody>
      </p:sp>
      <p:sp>
        <p:nvSpPr>
          <p:cNvPr id="46" name="Text 44"/>
          <p:cNvSpPr/>
          <p:nvPr/>
        </p:nvSpPr>
        <p:spPr>
          <a:xfrm>
            <a:off x="10680192" y="4919472"/>
            <a:ext cx="146304" cy="128016"/>
          </a:xfrm>
          <a:prstGeom prst="rect">
            <a:avLst/>
          </a:prstGeom>
          <a:noFill/>
          <a:ln/>
        </p:spPr>
        <p:txBody>
          <a:bodyPr wrap="square" lIns="0" tIns="0" rIns="0" bIns="0" rtlCol="0" anchor="ctr"/>
          <a:lstStyle/>
          <a:p>
            <a:pPr algn="ctr" indent="0" marL="0">
              <a:buNone/>
            </a:pPr>
            <a:r>
              <a:rPr lang="en-US" sz="750" dirty="0">
                <a:solidFill>
                  <a:srgbClr val="9099A8"/>
                </a:solidFill>
              </a:rPr>
              <a:t>9</a:t>
            </a:r>
            <a:endParaRPr lang="en-US" sz="750" dirty="0"/>
          </a:p>
        </p:txBody>
      </p:sp>
      <p:sp>
        <p:nvSpPr>
          <p:cNvPr id="47" name="Text 45"/>
          <p:cNvSpPr/>
          <p:nvPr/>
        </p:nvSpPr>
        <p:spPr>
          <a:xfrm>
            <a:off x="10040112" y="5129784"/>
            <a:ext cx="804672" cy="164592"/>
          </a:xfrm>
          <a:prstGeom prst="rect">
            <a:avLst/>
          </a:prstGeom>
          <a:noFill/>
          <a:ln/>
        </p:spPr>
        <p:txBody>
          <a:bodyPr wrap="square" lIns="0" tIns="0" rIns="0" bIns="0" rtlCol="0" anchor="ctr"/>
          <a:lstStyle/>
          <a:p>
            <a:pPr indent="0" marL="0">
              <a:buNone/>
            </a:pPr>
            <a:r>
              <a:rPr lang="en-US" sz="850" i="1" dirty="0">
                <a:solidFill>
                  <a:srgbClr val="6D7788"/>
                </a:solidFill>
              </a:rPr>
              <a:t>Time →</a:t>
            </a:r>
            <a:endParaRPr lang="en-US" sz="850" dirty="0"/>
          </a:p>
        </p:txBody>
      </p:sp>
      <p:sp>
        <p:nvSpPr>
          <p:cNvPr id="48" name="Shape 46"/>
          <p:cNvSpPr/>
          <p:nvPr/>
        </p:nvSpPr>
        <p:spPr>
          <a:xfrm>
            <a:off x="6876288" y="5230368"/>
            <a:ext cx="2414016" cy="384048"/>
          </a:xfrm>
          <a:prstGeom prst="roundRect">
            <a:avLst/>
          </a:prstGeom>
          <a:solidFill>
            <a:srgbClr val="EAF1FF"/>
          </a:solidFill>
          <a:ln w="12700">
            <a:solidFill>
              <a:srgbClr val="EAF1FF"/>
            </a:solidFill>
            <a:prstDash val="solid"/>
          </a:ln>
        </p:spPr>
      </p:sp>
      <p:sp>
        <p:nvSpPr>
          <p:cNvPr id="49" name="Text 47"/>
          <p:cNvSpPr/>
          <p:nvPr/>
        </p:nvSpPr>
        <p:spPr>
          <a:xfrm>
            <a:off x="7022592" y="5340096"/>
            <a:ext cx="2103120" cy="128016"/>
          </a:xfrm>
          <a:prstGeom prst="rect">
            <a:avLst/>
          </a:prstGeom>
          <a:noFill/>
          <a:ln/>
        </p:spPr>
        <p:txBody>
          <a:bodyPr wrap="square" lIns="0" tIns="0" rIns="0" bIns="0" rtlCol="0" anchor="ctr"/>
          <a:lstStyle/>
          <a:p>
            <a:pPr algn="ctr" indent="0" marL="0">
              <a:buNone/>
            </a:pPr>
            <a:r>
              <a:rPr lang="en-US" sz="950" b="1" dirty="0">
                <a:solidFill>
                  <a:srgbClr val="356AE6"/>
                </a:solidFill>
              </a:rPr>
              <a:t>Runs of the same sign = pattern</a:t>
            </a:r>
            <a:endParaRPr lang="en-US" sz="950" dirty="0"/>
          </a:p>
        </p:txBody>
      </p:sp>
      <p:sp>
        <p:nvSpPr>
          <p:cNvPr id="25" name="Slide Number Placeholder 0"/>
          <p:cNvSpPr>
            <a:spLocks noGrp="1"/>
          </p:cNvSpPr>
          <p:nvPr>
            <p:ph type="sldNum" sz="quarter" idx="4294967295"/>
          </p:nvPr>
        </p:nvSpPr>
        <p:spPr>
          <a:xfrm>
            <a:off x="11850624"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8F98A7"/>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47472"/>
            <a:ext cx="11064240" cy="438912"/>
          </a:xfrm>
          <a:prstGeom prst="rect">
            <a:avLst/>
          </a:prstGeom>
          <a:noFill/>
          <a:ln/>
        </p:spPr>
        <p:txBody>
          <a:bodyPr wrap="square" lIns="0" tIns="0" rIns="0" bIns="0" rtlCol="0" anchor="ctr"/>
          <a:lstStyle/>
          <a:p>
            <a:pPr indent="0" marL="0">
              <a:buNone/>
            </a:pPr>
            <a:r>
              <a:rPr lang="en-US" sz="2400" b="1" dirty="0">
                <a:solidFill>
                  <a:srgbClr val="17233C"/>
                </a:solidFill>
                <a:latin typeface="Aptos Display" pitchFamily="34" charset="0"/>
                <a:ea typeface="Aptos Display" pitchFamily="34" charset="-122"/>
                <a:cs typeface="Aptos Display" pitchFamily="34" charset="-120"/>
              </a:rPr>
              <a:t>What autocorrelation looks like — and why we care</a:t>
            </a:r>
            <a:endParaRPr lang="en-US" sz="2400" dirty="0"/>
          </a:p>
        </p:txBody>
      </p:sp>
      <p:sp>
        <p:nvSpPr>
          <p:cNvPr id="3" name="Text 1"/>
          <p:cNvSpPr/>
          <p:nvPr/>
        </p:nvSpPr>
        <p:spPr>
          <a:xfrm>
            <a:off x="566928" y="832104"/>
            <a:ext cx="10698480" cy="237744"/>
          </a:xfrm>
          <a:prstGeom prst="rect">
            <a:avLst/>
          </a:prstGeom>
          <a:noFill/>
          <a:ln/>
        </p:spPr>
        <p:txBody>
          <a:bodyPr wrap="square" lIns="0" tIns="0" rIns="0" bIns="0" rtlCol="0" anchor="ctr"/>
          <a:lstStyle/>
          <a:p>
            <a:pPr indent="0" marL="0">
              <a:buNone/>
            </a:pPr>
            <a:r>
              <a:rPr lang="en-US" sz="1050" dirty="0">
                <a:solidFill>
                  <a:srgbClr val="6D7788"/>
                </a:solidFill>
                <a:latin typeface="Aptos" pitchFamily="34" charset="0"/>
                <a:ea typeface="Aptos" pitchFamily="34" charset="-122"/>
                <a:cs typeface="Aptos" pitchFamily="34" charset="-120"/>
              </a:rPr>
              <a:t>The sign tells us the pattern; the regression issue is that the errors are no longer independent over time.</a:t>
            </a:r>
            <a:endParaRPr lang="en-US" sz="1050" dirty="0"/>
          </a:p>
        </p:txBody>
      </p:sp>
      <p:sp>
        <p:nvSpPr>
          <p:cNvPr id="4" name="Shape 2"/>
          <p:cNvSpPr/>
          <p:nvPr/>
        </p:nvSpPr>
        <p:spPr>
          <a:xfrm>
            <a:off x="603504" y="1325880"/>
            <a:ext cx="3255264" cy="2404872"/>
          </a:xfrm>
          <a:prstGeom prst="roundRect">
            <a:avLst>
              <a:gd name="adj" fmla="val 3042"/>
            </a:avLst>
          </a:prstGeom>
          <a:solidFill>
            <a:srgbClr val="FFFFFF"/>
          </a:solidFill>
          <a:ln w="12700">
            <a:solidFill>
              <a:srgbClr val="BCE5D2"/>
            </a:solidFill>
            <a:prstDash val="solid"/>
          </a:ln>
          <a:effectLst>
            <a:outerShdw sx="100000" sy="100000" kx="0" ky="0" algn="bl" rotWithShape="0" blurRad="12700" dist="50800" dir="2700000">
              <a:srgbClr val="C8D0DA">
                <a:alpha val="12000"/>
              </a:srgbClr>
            </a:outerShdw>
          </a:effectLst>
        </p:spPr>
      </p:sp>
      <p:sp>
        <p:nvSpPr>
          <p:cNvPr id="5" name="Shape 3"/>
          <p:cNvSpPr/>
          <p:nvPr/>
        </p:nvSpPr>
        <p:spPr>
          <a:xfrm>
            <a:off x="813816" y="1545336"/>
            <a:ext cx="2816352" cy="365760"/>
          </a:xfrm>
          <a:prstGeom prst="roundRect">
            <a:avLst/>
          </a:prstGeom>
          <a:solidFill>
            <a:srgbClr val="E8F7F0"/>
          </a:solidFill>
          <a:ln w="12700">
            <a:solidFill>
              <a:srgbClr val="E8F7F0"/>
            </a:solidFill>
            <a:prstDash val="solid"/>
          </a:ln>
        </p:spPr>
      </p:sp>
      <p:sp>
        <p:nvSpPr>
          <p:cNvPr id="6" name="Text 4"/>
          <p:cNvSpPr/>
          <p:nvPr/>
        </p:nvSpPr>
        <p:spPr>
          <a:xfrm>
            <a:off x="923544" y="1645920"/>
            <a:ext cx="2596896" cy="146304"/>
          </a:xfrm>
          <a:prstGeom prst="rect">
            <a:avLst/>
          </a:prstGeom>
          <a:noFill/>
          <a:ln/>
        </p:spPr>
        <p:txBody>
          <a:bodyPr wrap="square" lIns="0" tIns="0" rIns="0" bIns="0" rtlCol="0" anchor="ctr"/>
          <a:lstStyle/>
          <a:p>
            <a:pPr algn="ctr" indent="0" marL="0">
              <a:buNone/>
            </a:pPr>
            <a:r>
              <a:rPr lang="en-US" sz="1150" b="1" dirty="0">
                <a:solidFill>
                  <a:srgbClr val="2AA876"/>
                </a:solidFill>
              </a:rPr>
              <a:t>Positive autocorrelation</a:t>
            </a:r>
            <a:endParaRPr lang="en-US" sz="1150" dirty="0"/>
          </a:p>
        </p:txBody>
      </p:sp>
      <p:sp>
        <p:nvSpPr>
          <p:cNvPr id="7" name="Shape 5"/>
          <p:cNvSpPr/>
          <p:nvPr/>
        </p:nvSpPr>
        <p:spPr>
          <a:xfrm>
            <a:off x="950976" y="2651760"/>
            <a:ext cx="2560320" cy="0"/>
          </a:xfrm>
          <a:prstGeom prst="line">
            <a:avLst/>
          </a:prstGeom>
          <a:noFill/>
          <a:ln w="10160">
            <a:solidFill>
              <a:srgbClr val="CED5DE"/>
            </a:solidFill>
            <a:prstDash val="solid"/>
            <a:headEnd type="none"/>
            <a:tailEnd type="none"/>
          </a:ln>
        </p:spPr>
      </p:sp>
      <p:sp>
        <p:nvSpPr>
          <p:cNvPr id="8" name="Shape 6"/>
          <p:cNvSpPr/>
          <p:nvPr/>
        </p:nvSpPr>
        <p:spPr>
          <a:xfrm>
            <a:off x="909828" y="2527658"/>
            <a:ext cx="82296" cy="82296"/>
          </a:xfrm>
          <a:prstGeom prst="ellipse">
            <a:avLst/>
          </a:prstGeom>
          <a:solidFill>
            <a:srgbClr val="2AA876"/>
          </a:solidFill>
          <a:ln w="12700">
            <a:solidFill>
              <a:srgbClr val="2AA876"/>
            </a:solidFill>
            <a:prstDash val="solid"/>
          </a:ln>
        </p:spPr>
      </p:sp>
      <p:sp>
        <p:nvSpPr>
          <p:cNvPr id="9" name="Shape 7"/>
          <p:cNvSpPr/>
          <p:nvPr/>
        </p:nvSpPr>
        <p:spPr>
          <a:xfrm>
            <a:off x="950976" y="2568806"/>
            <a:ext cx="320040" cy="-124432"/>
          </a:xfrm>
          <a:prstGeom prst="line">
            <a:avLst/>
          </a:prstGeom>
          <a:noFill/>
          <a:ln w="17145">
            <a:solidFill>
              <a:srgbClr val="2AA876"/>
            </a:solidFill>
            <a:prstDash val="solid"/>
            <a:headEnd type="none"/>
            <a:tailEnd type="none"/>
          </a:ln>
        </p:spPr>
      </p:sp>
      <p:sp>
        <p:nvSpPr>
          <p:cNvPr id="10" name="Shape 8"/>
          <p:cNvSpPr/>
          <p:nvPr/>
        </p:nvSpPr>
        <p:spPr>
          <a:xfrm>
            <a:off x="1229868" y="2403226"/>
            <a:ext cx="82296" cy="82296"/>
          </a:xfrm>
          <a:prstGeom prst="ellipse">
            <a:avLst/>
          </a:prstGeom>
          <a:solidFill>
            <a:srgbClr val="2AA876"/>
          </a:solidFill>
          <a:ln w="12700">
            <a:solidFill>
              <a:srgbClr val="2AA876"/>
            </a:solidFill>
            <a:prstDash val="solid"/>
          </a:ln>
        </p:spPr>
      </p:sp>
      <p:sp>
        <p:nvSpPr>
          <p:cNvPr id="11" name="Shape 9"/>
          <p:cNvSpPr/>
          <p:nvPr/>
        </p:nvSpPr>
        <p:spPr>
          <a:xfrm>
            <a:off x="1271016" y="2444374"/>
            <a:ext cx="320040" cy="-91250"/>
          </a:xfrm>
          <a:prstGeom prst="line">
            <a:avLst/>
          </a:prstGeom>
          <a:noFill/>
          <a:ln w="17145">
            <a:solidFill>
              <a:srgbClr val="2AA876"/>
            </a:solidFill>
            <a:prstDash val="solid"/>
            <a:headEnd type="none"/>
            <a:tailEnd type="none"/>
          </a:ln>
        </p:spPr>
      </p:sp>
      <p:sp>
        <p:nvSpPr>
          <p:cNvPr id="12" name="Shape 10"/>
          <p:cNvSpPr/>
          <p:nvPr/>
        </p:nvSpPr>
        <p:spPr>
          <a:xfrm>
            <a:off x="1549908" y="2311976"/>
            <a:ext cx="82296" cy="82296"/>
          </a:xfrm>
          <a:prstGeom prst="ellipse">
            <a:avLst/>
          </a:prstGeom>
          <a:solidFill>
            <a:srgbClr val="2AA876"/>
          </a:solidFill>
          <a:ln w="12700">
            <a:solidFill>
              <a:srgbClr val="2AA876"/>
            </a:solidFill>
            <a:prstDash val="solid"/>
          </a:ln>
        </p:spPr>
      </p:sp>
      <p:sp>
        <p:nvSpPr>
          <p:cNvPr id="13" name="Shape 11"/>
          <p:cNvSpPr/>
          <p:nvPr/>
        </p:nvSpPr>
        <p:spPr>
          <a:xfrm>
            <a:off x="1591056" y="2353124"/>
            <a:ext cx="320040" cy="99545"/>
          </a:xfrm>
          <a:prstGeom prst="line">
            <a:avLst/>
          </a:prstGeom>
          <a:noFill/>
          <a:ln w="17145">
            <a:solidFill>
              <a:srgbClr val="2AA876"/>
            </a:solidFill>
            <a:prstDash val="solid"/>
            <a:headEnd type="none"/>
            <a:tailEnd type="none"/>
          </a:ln>
        </p:spPr>
      </p:sp>
      <p:sp>
        <p:nvSpPr>
          <p:cNvPr id="14" name="Shape 12"/>
          <p:cNvSpPr/>
          <p:nvPr/>
        </p:nvSpPr>
        <p:spPr>
          <a:xfrm>
            <a:off x="1869948" y="2411522"/>
            <a:ext cx="82296" cy="82296"/>
          </a:xfrm>
          <a:prstGeom prst="ellipse">
            <a:avLst/>
          </a:prstGeom>
          <a:solidFill>
            <a:srgbClr val="2AA876"/>
          </a:solidFill>
          <a:ln w="12700">
            <a:solidFill>
              <a:srgbClr val="2AA876"/>
            </a:solidFill>
            <a:prstDash val="solid"/>
          </a:ln>
        </p:spPr>
      </p:sp>
      <p:sp>
        <p:nvSpPr>
          <p:cNvPr id="15" name="Shape 13"/>
          <p:cNvSpPr/>
          <p:nvPr/>
        </p:nvSpPr>
        <p:spPr>
          <a:xfrm>
            <a:off x="1911096" y="2452670"/>
            <a:ext cx="320040" cy="136875"/>
          </a:xfrm>
          <a:prstGeom prst="line">
            <a:avLst/>
          </a:prstGeom>
          <a:noFill/>
          <a:ln w="17145">
            <a:solidFill>
              <a:srgbClr val="2AA876"/>
            </a:solidFill>
            <a:prstDash val="solid"/>
            <a:headEnd type="none"/>
            <a:tailEnd type="none"/>
          </a:ln>
        </p:spPr>
      </p:sp>
      <p:sp>
        <p:nvSpPr>
          <p:cNvPr id="16" name="Shape 14"/>
          <p:cNvSpPr/>
          <p:nvPr/>
        </p:nvSpPr>
        <p:spPr>
          <a:xfrm>
            <a:off x="2189988" y="2548396"/>
            <a:ext cx="82296" cy="82296"/>
          </a:xfrm>
          <a:prstGeom prst="ellipse">
            <a:avLst/>
          </a:prstGeom>
          <a:solidFill>
            <a:srgbClr val="2AA876"/>
          </a:solidFill>
          <a:ln w="12700">
            <a:solidFill>
              <a:srgbClr val="2AA876"/>
            </a:solidFill>
            <a:prstDash val="solid"/>
          </a:ln>
        </p:spPr>
      </p:sp>
      <p:sp>
        <p:nvSpPr>
          <p:cNvPr id="17" name="Shape 15"/>
          <p:cNvSpPr/>
          <p:nvPr/>
        </p:nvSpPr>
        <p:spPr>
          <a:xfrm>
            <a:off x="2231136" y="2589544"/>
            <a:ext cx="320040" cy="165909"/>
          </a:xfrm>
          <a:prstGeom prst="line">
            <a:avLst/>
          </a:prstGeom>
          <a:noFill/>
          <a:ln w="17145">
            <a:solidFill>
              <a:srgbClr val="2AA876"/>
            </a:solidFill>
            <a:prstDash val="solid"/>
            <a:headEnd type="none"/>
            <a:tailEnd type="none"/>
          </a:ln>
        </p:spPr>
      </p:sp>
      <p:sp>
        <p:nvSpPr>
          <p:cNvPr id="18" name="Shape 16"/>
          <p:cNvSpPr/>
          <p:nvPr/>
        </p:nvSpPr>
        <p:spPr>
          <a:xfrm>
            <a:off x="2510028" y="2714305"/>
            <a:ext cx="82296" cy="82296"/>
          </a:xfrm>
          <a:prstGeom prst="ellipse">
            <a:avLst/>
          </a:prstGeom>
          <a:solidFill>
            <a:srgbClr val="2AA876"/>
          </a:solidFill>
          <a:ln w="12700">
            <a:solidFill>
              <a:srgbClr val="2AA876"/>
            </a:solidFill>
            <a:prstDash val="solid"/>
          </a:ln>
        </p:spPr>
      </p:sp>
      <p:sp>
        <p:nvSpPr>
          <p:cNvPr id="19" name="Shape 17"/>
          <p:cNvSpPr/>
          <p:nvPr/>
        </p:nvSpPr>
        <p:spPr>
          <a:xfrm>
            <a:off x="2551176" y="2755453"/>
            <a:ext cx="320040" cy="124432"/>
          </a:xfrm>
          <a:prstGeom prst="line">
            <a:avLst/>
          </a:prstGeom>
          <a:noFill/>
          <a:ln w="17145">
            <a:solidFill>
              <a:srgbClr val="2AA876"/>
            </a:solidFill>
            <a:prstDash val="solid"/>
            <a:headEnd type="none"/>
            <a:tailEnd type="none"/>
          </a:ln>
        </p:spPr>
      </p:sp>
      <p:sp>
        <p:nvSpPr>
          <p:cNvPr id="20" name="Shape 18"/>
          <p:cNvSpPr/>
          <p:nvPr/>
        </p:nvSpPr>
        <p:spPr>
          <a:xfrm>
            <a:off x="2830068" y="2838737"/>
            <a:ext cx="82296" cy="82296"/>
          </a:xfrm>
          <a:prstGeom prst="ellipse">
            <a:avLst/>
          </a:prstGeom>
          <a:solidFill>
            <a:srgbClr val="2AA876"/>
          </a:solidFill>
          <a:ln w="12700">
            <a:solidFill>
              <a:srgbClr val="2AA876"/>
            </a:solidFill>
            <a:prstDash val="solid"/>
          </a:ln>
        </p:spPr>
      </p:sp>
      <p:sp>
        <p:nvSpPr>
          <p:cNvPr id="21" name="Shape 19"/>
          <p:cNvSpPr/>
          <p:nvPr/>
        </p:nvSpPr>
        <p:spPr>
          <a:xfrm>
            <a:off x="2871216" y="2879885"/>
            <a:ext cx="320040" cy="95398"/>
          </a:xfrm>
          <a:prstGeom prst="line">
            <a:avLst/>
          </a:prstGeom>
          <a:noFill/>
          <a:ln w="17145">
            <a:solidFill>
              <a:srgbClr val="2AA876"/>
            </a:solidFill>
            <a:prstDash val="solid"/>
            <a:headEnd type="none"/>
            <a:tailEnd type="none"/>
          </a:ln>
        </p:spPr>
      </p:sp>
      <p:sp>
        <p:nvSpPr>
          <p:cNvPr id="22" name="Shape 20"/>
          <p:cNvSpPr/>
          <p:nvPr/>
        </p:nvSpPr>
        <p:spPr>
          <a:xfrm>
            <a:off x="3150108" y="2934134"/>
            <a:ext cx="82296" cy="82296"/>
          </a:xfrm>
          <a:prstGeom prst="ellipse">
            <a:avLst/>
          </a:prstGeom>
          <a:solidFill>
            <a:srgbClr val="2AA876"/>
          </a:solidFill>
          <a:ln w="12700">
            <a:solidFill>
              <a:srgbClr val="2AA876"/>
            </a:solidFill>
            <a:prstDash val="solid"/>
          </a:ln>
        </p:spPr>
      </p:sp>
      <p:sp>
        <p:nvSpPr>
          <p:cNvPr id="23" name="Shape 21"/>
          <p:cNvSpPr/>
          <p:nvPr/>
        </p:nvSpPr>
        <p:spPr>
          <a:xfrm>
            <a:off x="3191256" y="2975282"/>
            <a:ext cx="320040" cy="-66363"/>
          </a:xfrm>
          <a:prstGeom prst="line">
            <a:avLst/>
          </a:prstGeom>
          <a:noFill/>
          <a:ln w="17145">
            <a:solidFill>
              <a:srgbClr val="2AA876"/>
            </a:solidFill>
            <a:prstDash val="solid"/>
            <a:headEnd type="none"/>
            <a:tailEnd type="none"/>
          </a:ln>
        </p:spPr>
      </p:sp>
      <p:sp>
        <p:nvSpPr>
          <p:cNvPr id="24" name="Shape 22"/>
          <p:cNvSpPr/>
          <p:nvPr/>
        </p:nvSpPr>
        <p:spPr>
          <a:xfrm>
            <a:off x="3470148" y="2867771"/>
            <a:ext cx="82296" cy="82296"/>
          </a:xfrm>
          <a:prstGeom prst="ellipse">
            <a:avLst/>
          </a:prstGeom>
          <a:solidFill>
            <a:srgbClr val="2AA876"/>
          </a:solidFill>
          <a:ln w="12700">
            <a:solidFill>
              <a:srgbClr val="2AA876"/>
            </a:solidFill>
            <a:prstDash val="solid"/>
          </a:ln>
        </p:spPr>
      </p:sp>
      <p:sp>
        <p:nvSpPr>
          <p:cNvPr id="25" name="Text 23"/>
          <p:cNvSpPr/>
          <p:nvPr/>
        </p:nvSpPr>
        <p:spPr>
          <a:xfrm>
            <a:off x="1060704" y="3337560"/>
            <a:ext cx="2331720" cy="146304"/>
          </a:xfrm>
          <a:prstGeom prst="rect">
            <a:avLst/>
          </a:prstGeom>
          <a:noFill/>
          <a:ln/>
        </p:spPr>
        <p:txBody>
          <a:bodyPr wrap="square" lIns="0" tIns="0" rIns="0" bIns="0" rtlCol="0" anchor="ctr"/>
          <a:lstStyle/>
          <a:p>
            <a:pPr algn="ctr" indent="0" marL="0">
              <a:buNone/>
            </a:pPr>
            <a:r>
              <a:rPr lang="en-US" sz="920" i="1" dirty="0">
                <a:solidFill>
                  <a:srgbClr val="6D7788"/>
                </a:solidFill>
              </a:rPr>
              <a:t>same direction</a:t>
            </a:r>
            <a:endParaRPr lang="en-US" sz="920" dirty="0"/>
          </a:p>
        </p:txBody>
      </p:sp>
      <p:sp>
        <p:nvSpPr>
          <p:cNvPr id="26" name="Shape 24"/>
          <p:cNvSpPr/>
          <p:nvPr/>
        </p:nvSpPr>
        <p:spPr>
          <a:xfrm>
            <a:off x="4160520" y="1325880"/>
            <a:ext cx="3255264" cy="2404872"/>
          </a:xfrm>
          <a:prstGeom prst="roundRect">
            <a:avLst>
              <a:gd name="adj" fmla="val 3042"/>
            </a:avLst>
          </a:prstGeom>
          <a:solidFill>
            <a:srgbClr val="FFFFFF"/>
          </a:solidFill>
          <a:ln w="12700">
            <a:solidFill>
              <a:srgbClr val="DDE2E9"/>
            </a:solidFill>
            <a:prstDash val="solid"/>
          </a:ln>
          <a:effectLst>
            <a:outerShdw sx="100000" sy="100000" kx="0" ky="0" algn="bl" rotWithShape="0" blurRad="12700" dist="50800" dir="2700000">
              <a:srgbClr val="C8D0DA">
                <a:alpha val="12000"/>
              </a:srgbClr>
            </a:outerShdw>
          </a:effectLst>
        </p:spPr>
      </p:sp>
      <p:sp>
        <p:nvSpPr>
          <p:cNvPr id="27" name="Shape 25"/>
          <p:cNvSpPr/>
          <p:nvPr/>
        </p:nvSpPr>
        <p:spPr>
          <a:xfrm>
            <a:off x="4370832" y="1545336"/>
            <a:ext cx="2816352" cy="365760"/>
          </a:xfrm>
          <a:prstGeom prst="roundRect">
            <a:avLst/>
          </a:prstGeom>
          <a:solidFill>
            <a:srgbClr val="F3F5F8"/>
          </a:solidFill>
          <a:ln w="12700">
            <a:solidFill>
              <a:srgbClr val="F3F5F8"/>
            </a:solidFill>
            <a:prstDash val="solid"/>
          </a:ln>
        </p:spPr>
      </p:sp>
      <p:sp>
        <p:nvSpPr>
          <p:cNvPr id="28" name="Text 26"/>
          <p:cNvSpPr/>
          <p:nvPr/>
        </p:nvSpPr>
        <p:spPr>
          <a:xfrm>
            <a:off x="4480560" y="1645920"/>
            <a:ext cx="2596896" cy="146304"/>
          </a:xfrm>
          <a:prstGeom prst="rect">
            <a:avLst/>
          </a:prstGeom>
          <a:noFill/>
          <a:ln/>
        </p:spPr>
        <p:txBody>
          <a:bodyPr wrap="square" lIns="0" tIns="0" rIns="0" bIns="0" rtlCol="0" anchor="ctr"/>
          <a:lstStyle/>
          <a:p>
            <a:pPr algn="ctr" indent="0" marL="0">
              <a:buNone/>
            </a:pPr>
            <a:r>
              <a:rPr lang="en-US" sz="1150" b="1" dirty="0">
                <a:solidFill>
                  <a:srgbClr val="6D7788"/>
                </a:solidFill>
              </a:rPr>
              <a:t>Little / none</a:t>
            </a:r>
            <a:endParaRPr lang="en-US" sz="1150" dirty="0"/>
          </a:p>
        </p:txBody>
      </p:sp>
      <p:sp>
        <p:nvSpPr>
          <p:cNvPr id="29" name="Shape 27"/>
          <p:cNvSpPr/>
          <p:nvPr/>
        </p:nvSpPr>
        <p:spPr>
          <a:xfrm>
            <a:off x="4507992" y="2651760"/>
            <a:ext cx="2560320" cy="0"/>
          </a:xfrm>
          <a:prstGeom prst="line">
            <a:avLst/>
          </a:prstGeom>
          <a:noFill/>
          <a:ln w="10160">
            <a:solidFill>
              <a:srgbClr val="CED5DE"/>
            </a:solidFill>
            <a:prstDash val="solid"/>
            <a:headEnd type="none"/>
            <a:tailEnd type="none"/>
          </a:ln>
        </p:spPr>
      </p:sp>
      <p:sp>
        <p:nvSpPr>
          <p:cNvPr id="30" name="Shape 28"/>
          <p:cNvSpPr/>
          <p:nvPr/>
        </p:nvSpPr>
        <p:spPr>
          <a:xfrm>
            <a:off x="4466844" y="2423965"/>
            <a:ext cx="82296" cy="82296"/>
          </a:xfrm>
          <a:prstGeom prst="ellipse">
            <a:avLst/>
          </a:prstGeom>
          <a:solidFill>
            <a:srgbClr val="6D7788"/>
          </a:solidFill>
          <a:ln w="12700">
            <a:solidFill>
              <a:srgbClr val="6D7788"/>
            </a:solidFill>
            <a:prstDash val="solid"/>
          </a:ln>
        </p:spPr>
      </p:sp>
      <p:sp>
        <p:nvSpPr>
          <p:cNvPr id="31" name="Shape 29"/>
          <p:cNvSpPr/>
          <p:nvPr/>
        </p:nvSpPr>
        <p:spPr>
          <a:xfrm>
            <a:off x="4507992" y="2465113"/>
            <a:ext cx="320040" cy="248863"/>
          </a:xfrm>
          <a:prstGeom prst="line">
            <a:avLst/>
          </a:prstGeom>
          <a:noFill/>
          <a:ln w="17145">
            <a:solidFill>
              <a:srgbClr val="6D7788"/>
            </a:solidFill>
            <a:prstDash val="solid"/>
            <a:headEnd type="none"/>
            <a:tailEnd type="none"/>
          </a:ln>
        </p:spPr>
      </p:sp>
      <p:sp>
        <p:nvSpPr>
          <p:cNvPr id="32" name="Shape 30"/>
          <p:cNvSpPr/>
          <p:nvPr/>
        </p:nvSpPr>
        <p:spPr>
          <a:xfrm>
            <a:off x="4786884" y="2672828"/>
            <a:ext cx="82296" cy="82296"/>
          </a:xfrm>
          <a:prstGeom prst="ellipse">
            <a:avLst/>
          </a:prstGeom>
          <a:solidFill>
            <a:srgbClr val="6D7788"/>
          </a:solidFill>
          <a:ln w="12700">
            <a:solidFill>
              <a:srgbClr val="6D7788"/>
            </a:solidFill>
            <a:prstDash val="solid"/>
          </a:ln>
        </p:spPr>
      </p:sp>
      <p:sp>
        <p:nvSpPr>
          <p:cNvPr id="33" name="Shape 31"/>
          <p:cNvSpPr/>
          <p:nvPr/>
        </p:nvSpPr>
        <p:spPr>
          <a:xfrm>
            <a:off x="4828032" y="2713976"/>
            <a:ext cx="320040" cy="-302783"/>
          </a:xfrm>
          <a:prstGeom prst="line">
            <a:avLst/>
          </a:prstGeom>
          <a:noFill/>
          <a:ln w="17145">
            <a:solidFill>
              <a:srgbClr val="6D7788"/>
            </a:solidFill>
            <a:prstDash val="solid"/>
            <a:headEnd type="none"/>
            <a:tailEnd type="none"/>
          </a:ln>
        </p:spPr>
      </p:sp>
      <p:sp>
        <p:nvSpPr>
          <p:cNvPr id="34" name="Shape 32"/>
          <p:cNvSpPr/>
          <p:nvPr/>
        </p:nvSpPr>
        <p:spPr>
          <a:xfrm>
            <a:off x="5106924" y="2370044"/>
            <a:ext cx="82296" cy="82296"/>
          </a:xfrm>
          <a:prstGeom prst="ellipse">
            <a:avLst/>
          </a:prstGeom>
          <a:solidFill>
            <a:srgbClr val="6D7788"/>
          </a:solidFill>
          <a:ln w="12700">
            <a:solidFill>
              <a:srgbClr val="6D7788"/>
            </a:solidFill>
            <a:prstDash val="solid"/>
          </a:ln>
        </p:spPr>
      </p:sp>
      <p:sp>
        <p:nvSpPr>
          <p:cNvPr id="35" name="Shape 33"/>
          <p:cNvSpPr/>
          <p:nvPr/>
        </p:nvSpPr>
        <p:spPr>
          <a:xfrm>
            <a:off x="5148072" y="2411192"/>
            <a:ext cx="320040" cy="456249"/>
          </a:xfrm>
          <a:prstGeom prst="line">
            <a:avLst/>
          </a:prstGeom>
          <a:noFill/>
          <a:ln w="17145">
            <a:solidFill>
              <a:srgbClr val="6D7788"/>
            </a:solidFill>
            <a:prstDash val="solid"/>
            <a:headEnd type="none"/>
            <a:tailEnd type="none"/>
          </a:ln>
        </p:spPr>
      </p:sp>
      <p:sp>
        <p:nvSpPr>
          <p:cNvPr id="36" name="Shape 34"/>
          <p:cNvSpPr/>
          <p:nvPr/>
        </p:nvSpPr>
        <p:spPr>
          <a:xfrm>
            <a:off x="5426964" y="2826293"/>
            <a:ext cx="82296" cy="82296"/>
          </a:xfrm>
          <a:prstGeom prst="ellipse">
            <a:avLst/>
          </a:prstGeom>
          <a:solidFill>
            <a:srgbClr val="6D7788"/>
          </a:solidFill>
          <a:ln w="12700">
            <a:solidFill>
              <a:srgbClr val="6D7788"/>
            </a:solidFill>
            <a:prstDash val="solid"/>
          </a:ln>
        </p:spPr>
      </p:sp>
      <p:sp>
        <p:nvSpPr>
          <p:cNvPr id="37" name="Shape 35"/>
          <p:cNvSpPr/>
          <p:nvPr/>
        </p:nvSpPr>
        <p:spPr>
          <a:xfrm>
            <a:off x="5468112" y="2867441"/>
            <a:ext cx="320040" cy="-306931"/>
          </a:xfrm>
          <a:prstGeom prst="line">
            <a:avLst/>
          </a:prstGeom>
          <a:noFill/>
          <a:ln w="17145">
            <a:solidFill>
              <a:srgbClr val="6D7788"/>
            </a:solidFill>
            <a:prstDash val="solid"/>
            <a:headEnd type="none"/>
            <a:tailEnd type="none"/>
          </a:ln>
        </p:spPr>
      </p:sp>
      <p:sp>
        <p:nvSpPr>
          <p:cNvPr id="38" name="Shape 36"/>
          <p:cNvSpPr/>
          <p:nvPr/>
        </p:nvSpPr>
        <p:spPr>
          <a:xfrm>
            <a:off x="5747004" y="2519362"/>
            <a:ext cx="82296" cy="82296"/>
          </a:xfrm>
          <a:prstGeom prst="ellipse">
            <a:avLst/>
          </a:prstGeom>
          <a:solidFill>
            <a:srgbClr val="6D7788"/>
          </a:solidFill>
          <a:ln w="12700">
            <a:solidFill>
              <a:srgbClr val="6D7788"/>
            </a:solidFill>
            <a:prstDash val="solid"/>
          </a:ln>
        </p:spPr>
      </p:sp>
      <p:sp>
        <p:nvSpPr>
          <p:cNvPr id="39" name="Shape 37"/>
          <p:cNvSpPr/>
          <p:nvPr/>
        </p:nvSpPr>
        <p:spPr>
          <a:xfrm>
            <a:off x="5788152" y="2560510"/>
            <a:ext cx="320040" cy="257159"/>
          </a:xfrm>
          <a:prstGeom prst="line">
            <a:avLst/>
          </a:prstGeom>
          <a:noFill/>
          <a:ln w="17145">
            <a:solidFill>
              <a:srgbClr val="6D7788"/>
            </a:solidFill>
            <a:prstDash val="solid"/>
            <a:headEnd type="none"/>
            <a:tailEnd type="none"/>
          </a:ln>
        </p:spPr>
      </p:sp>
      <p:sp>
        <p:nvSpPr>
          <p:cNvPr id="40" name="Shape 38"/>
          <p:cNvSpPr/>
          <p:nvPr/>
        </p:nvSpPr>
        <p:spPr>
          <a:xfrm>
            <a:off x="6067044" y="2776521"/>
            <a:ext cx="82296" cy="82296"/>
          </a:xfrm>
          <a:prstGeom prst="ellipse">
            <a:avLst/>
          </a:prstGeom>
          <a:solidFill>
            <a:srgbClr val="6D7788"/>
          </a:solidFill>
          <a:ln w="12700">
            <a:solidFill>
              <a:srgbClr val="6D7788"/>
            </a:solidFill>
            <a:prstDash val="solid"/>
          </a:ln>
        </p:spPr>
      </p:sp>
      <p:sp>
        <p:nvSpPr>
          <p:cNvPr id="41" name="Shape 39"/>
          <p:cNvSpPr/>
          <p:nvPr/>
        </p:nvSpPr>
        <p:spPr>
          <a:xfrm>
            <a:off x="6108192" y="2817669"/>
            <a:ext cx="320040" cy="-394033"/>
          </a:xfrm>
          <a:prstGeom prst="line">
            <a:avLst/>
          </a:prstGeom>
          <a:noFill/>
          <a:ln w="17145">
            <a:solidFill>
              <a:srgbClr val="6D7788"/>
            </a:solidFill>
            <a:prstDash val="solid"/>
            <a:headEnd type="none"/>
            <a:tailEnd type="none"/>
          </a:ln>
        </p:spPr>
      </p:sp>
      <p:sp>
        <p:nvSpPr>
          <p:cNvPr id="42" name="Shape 40"/>
          <p:cNvSpPr/>
          <p:nvPr/>
        </p:nvSpPr>
        <p:spPr>
          <a:xfrm>
            <a:off x="6387084" y="2382487"/>
            <a:ext cx="82296" cy="82296"/>
          </a:xfrm>
          <a:prstGeom prst="ellipse">
            <a:avLst/>
          </a:prstGeom>
          <a:solidFill>
            <a:srgbClr val="6D7788"/>
          </a:solidFill>
          <a:ln w="12700">
            <a:solidFill>
              <a:srgbClr val="6D7788"/>
            </a:solidFill>
            <a:prstDash val="solid"/>
          </a:ln>
        </p:spPr>
      </p:sp>
      <p:sp>
        <p:nvSpPr>
          <p:cNvPr id="43" name="Shape 41"/>
          <p:cNvSpPr/>
          <p:nvPr/>
        </p:nvSpPr>
        <p:spPr>
          <a:xfrm>
            <a:off x="6428232" y="2423635"/>
            <a:ext cx="320040" cy="302783"/>
          </a:xfrm>
          <a:prstGeom prst="line">
            <a:avLst/>
          </a:prstGeom>
          <a:noFill/>
          <a:ln w="17145">
            <a:solidFill>
              <a:srgbClr val="6D7788"/>
            </a:solidFill>
            <a:prstDash val="solid"/>
            <a:headEnd type="none"/>
            <a:tailEnd type="none"/>
          </a:ln>
        </p:spPr>
      </p:sp>
      <p:sp>
        <p:nvSpPr>
          <p:cNvPr id="44" name="Shape 42"/>
          <p:cNvSpPr/>
          <p:nvPr/>
        </p:nvSpPr>
        <p:spPr>
          <a:xfrm>
            <a:off x="6707124" y="2685271"/>
            <a:ext cx="82296" cy="82296"/>
          </a:xfrm>
          <a:prstGeom prst="ellipse">
            <a:avLst/>
          </a:prstGeom>
          <a:solidFill>
            <a:srgbClr val="6D7788"/>
          </a:solidFill>
          <a:ln w="12700">
            <a:solidFill>
              <a:srgbClr val="6D7788"/>
            </a:solidFill>
            <a:prstDash val="solid"/>
          </a:ln>
        </p:spPr>
      </p:sp>
      <p:sp>
        <p:nvSpPr>
          <p:cNvPr id="45" name="Shape 43"/>
          <p:cNvSpPr/>
          <p:nvPr/>
        </p:nvSpPr>
        <p:spPr>
          <a:xfrm>
            <a:off x="6748272" y="2726419"/>
            <a:ext cx="320040" cy="-107841"/>
          </a:xfrm>
          <a:prstGeom prst="line">
            <a:avLst/>
          </a:prstGeom>
          <a:noFill/>
          <a:ln w="17145">
            <a:solidFill>
              <a:srgbClr val="6D7788"/>
            </a:solidFill>
            <a:prstDash val="solid"/>
            <a:headEnd type="none"/>
            <a:tailEnd type="none"/>
          </a:ln>
        </p:spPr>
      </p:sp>
      <p:sp>
        <p:nvSpPr>
          <p:cNvPr id="46" name="Shape 44"/>
          <p:cNvSpPr/>
          <p:nvPr/>
        </p:nvSpPr>
        <p:spPr>
          <a:xfrm>
            <a:off x="7027164" y="2577430"/>
            <a:ext cx="82296" cy="82296"/>
          </a:xfrm>
          <a:prstGeom prst="ellipse">
            <a:avLst/>
          </a:prstGeom>
          <a:solidFill>
            <a:srgbClr val="6D7788"/>
          </a:solidFill>
          <a:ln w="12700">
            <a:solidFill>
              <a:srgbClr val="6D7788"/>
            </a:solidFill>
            <a:prstDash val="solid"/>
          </a:ln>
        </p:spPr>
      </p:sp>
      <p:sp>
        <p:nvSpPr>
          <p:cNvPr id="47" name="Text 45"/>
          <p:cNvSpPr/>
          <p:nvPr/>
        </p:nvSpPr>
        <p:spPr>
          <a:xfrm>
            <a:off x="4617720" y="3337560"/>
            <a:ext cx="2331720" cy="146304"/>
          </a:xfrm>
          <a:prstGeom prst="rect">
            <a:avLst/>
          </a:prstGeom>
          <a:noFill/>
          <a:ln/>
        </p:spPr>
        <p:txBody>
          <a:bodyPr wrap="square" lIns="0" tIns="0" rIns="0" bIns="0" rtlCol="0" anchor="ctr"/>
          <a:lstStyle/>
          <a:p>
            <a:pPr algn="ctr" indent="0" marL="0">
              <a:buNone/>
            </a:pPr>
            <a:r>
              <a:rPr lang="en-US" sz="920" i="1" dirty="0">
                <a:solidFill>
                  <a:srgbClr val="6D7788"/>
                </a:solidFill>
              </a:rPr>
              <a:t>no clear pattern</a:t>
            </a:r>
            <a:endParaRPr lang="en-US" sz="920" dirty="0"/>
          </a:p>
        </p:txBody>
      </p:sp>
      <p:sp>
        <p:nvSpPr>
          <p:cNvPr id="48" name="Shape 46"/>
          <p:cNvSpPr/>
          <p:nvPr/>
        </p:nvSpPr>
        <p:spPr>
          <a:xfrm>
            <a:off x="7717536" y="1325880"/>
            <a:ext cx="3255264" cy="2404872"/>
          </a:xfrm>
          <a:prstGeom prst="roundRect">
            <a:avLst>
              <a:gd name="adj" fmla="val 3042"/>
            </a:avLst>
          </a:prstGeom>
          <a:solidFill>
            <a:srgbClr val="FFFFFF"/>
          </a:solidFill>
          <a:ln w="12700">
            <a:solidFill>
              <a:srgbClr val="F4C8C8"/>
            </a:solidFill>
            <a:prstDash val="solid"/>
          </a:ln>
          <a:effectLst>
            <a:outerShdw sx="100000" sy="100000" kx="0" ky="0" algn="bl" rotWithShape="0" blurRad="12700" dist="50800" dir="2700000">
              <a:srgbClr val="C8D0DA">
                <a:alpha val="12000"/>
              </a:srgbClr>
            </a:outerShdw>
          </a:effectLst>
        </p:spPr>
      </p:sp>
      <p:sp>
        <p:nvSpPr>
          <p:cNvPr id="49" name="Shape 47"/>
          <p:cNvSpPr/>
          <p:nvPr/>
        </p:nvSpPr>
        <p:spPr>
          <a:xfrm>
            <a:off x="7927848" y="1545336"/>
            <a:ext cx="2816352" cy="365760"/>
          </a:xfrm>
          <a:prstGeom prst="roundRect">
            <a:avLst/>
          </a:prstGeom>
          <a:solidFill>
            <a:srgbClr val="FDECEC"/>
          </a:solidFill>
          <a:ln w="12700">
            <a:solidFill>
              <a:srgbClr val="FDECEC"/>
            </a:solidFill>
            <a:prstDash val="solid"/>
          </a:ln>
        </p:spPr>
      </p:sp>
      <p:sp>
        <p:nvSpPr>
          <p:cNvPr id="50" name="Text 48"/>
          <p:cNvSpPr/>
          <p:nvPr/>
        </p:nvSpPr>
        <p:spPr>
          <a:xfrm>
            <a:off x="8037576" y="1645920"/>
            <a:ext cx="2596896" cy="146304"/>
          </a:xfrm>
          <a:prstGeom prst="rect">
            <a:avLst/>
          </a:prstGeom>
          <a:noFill/>
          <a:ln/>
        </p:spPr>
        <p:txBody>
          <a:bodyPr wrap="square" lIns="0" tIns="0" rIns="0" bIns="0" rtlCol="0" anchor="ctr"/>
          <a:lstStyle/>
          <a:p>
            <a:pPr algn="ctr" indent="0" marL="0">
              <a:buNone/>
            </a:pPr>
            <a:r>
              <a:rPr lang="en-US" sz="1150" b="1" dirty="0">
                <a:solidFill>
                  <a:srgbClr val="E55353"/>
                </a:solidFill>
              </a:rPr>
              <a:t>Negative autocorrelation</a:t>
            </a:r>
            <a:endParaRPr lang="en-US" sz="1150" dirty="0"/>
          </a:p>
        </p:txBody>
      </p:sp>
      <p:sp>
        <p:nvSpPr>
          <p:cNvPr id="51" name="Shape 49"/>
          <p:cNvSpPr/>
          <p:nvPr/>
        </p:nvSpPr>
        <p:spPr>
          <a:xfrm>
            <a:off x="8065008" y="2651760"/>
            <a:ext cx="2560320" cy="0"/>
          </a:xfrm>
          <a:prstGeom prst="line">
            <a:avLst/>
          </a:prstGeom>
          <a:noFill/>
          <a:ln w="10160">
            <a:solidFill>
              <a:srgbClr val="CED5DE"/>
            </a:solidFill>
            <a:prstDash val="solid"/>
            <a:headEnd type="none"/>
            <a:tailEnd type="none"/>
          </a:ln>
        </p:spPr>
      </p:sp>
      <p:sp>
        <p:nvSpPr>
          <p:cNvPr id="52" name="Shape 50"/>
          <p:cNvSpPr/>
          <p:nvPr/>
        </p:nvSpPr>
        <p:spPr>
          <a:xfrm>
            <a:off x="8023860" y="2370044"/>
            <a:ext cx="82296" cy="82296"/>
          </a:xfrm>
          <a:prstGeom prst="ellipse">
            <a:avLst/>
          </a:prstGeom>
          <a:solidFill>
            <a:srgbClr val="E55353"/>
          </a:solidFill>
          <a:ln w="12700">
            <a:solidFill>
              <a:srgbClr val="E55353"/>
            </a:solidFill>
            <a:prstDash val="solid"/>
          </a:ln>
        </p:spPr>
      </p:sp>
      <p:sp>
        <p:nvSpPr>
          <p:cNvPr id="53" name="Shape 51"/>
          <p:cNvSpPr/>
          <p:nvPr/>
        </p:nvSpPr>
        <p:spPr>
          <a:xfrm>
            <a:off x="8065008" y="2411192"/>
            <a:ext cx="320040" cy="447954"/>
          </a:xfrm>
          <a:prstGeom prst="line">
            <a:avLst/>
          </a:prstGeom>
          <a:noFill/>
          <a:ln w="17145">
            <a:solidFill>
              <a:srgbClr val="E55353"/>
            </a:solidFill>
            <a:prstDash val="solid"/>
            <a:headEnd type="none"/>
            <a:tailEnd type="none"/>
          </a:ln>
        </p:spPr>
      </p:sp>
      <p:sp>
        <p:nvSpPr>
          <p:cNvPr id="54" name="Shape 52"/>
          <p:cNvSpPr/>
          <p:nvPr/>
        </p:nvSpPr>
        <p:spPr>
          <a:xfrm>
            <a:off x="8343900" y="2817998"/>
            <a:ext cx="82296" cy="82296"/>
          </a:xfrm>
          <a:prstGeom prst="ellipse">
            <a:avLst/>
          </a:prstGeom>
          <a:solidFill>
            <a:srgbClr val="E55353"/>
          </a:solidFill>
          <a:ln w="12700">
            <a:solidFill>
              <a:srgbClr val="E55353"/>
            </a:solidFill>
            <a:prstDash val="solid"/>
          </a:ln>
        </p:spPr>
      </p:sp>
      <p:sp>
        <p:nvSpPr>
          <p:cNvPr id="55" name="Shape 53"/>
          <p:cNvSpPr/>
          <p:nvPr/>
        </p:nvSpPr>
        <p:spPr>
          <a:xfrm>
            <a:off x="8385048" y="2859146"/>
            <a:ext cx="320040" cy="-464544"/>
          </a:xfrm>
          <a:prstGeom prst="line">
            <a:avLst/>
          </a:prstGeom>
          <a:noFill/>
          <a:ln w="17145">
            <a:solidFill>
              <a:srgbClr val="E55353"/>
            </a:solidFill>
            <a:prstDash val="solid"/>
            <a:headEnd type="none"/>
            <a:tailEnd type="none"/>
          </a:ln>
        </p:spPr>
      </p:sp>
      <p:sp>
        <p:nvSpPr>
          <p:cNvPr id="56" name="Shape 54"/>
          <p:cNvSpPr/>
          <p:nvPr/>
        </p:nvSpPr>
        <p:spPr>
          <a:xfrm>
            <a:off x="8663940" y="2353453"/>
            <a:ext cx="82296" cy="82296"/>
          </a:xfrm>
          <a:prstGeom prst="ellipse">
            <a:avLst/>
          </a:prstGeom>
          <a:solidFill>
            <a:srgbClr val="E55353"/>
          </a:solidFill>
          <a:ln w="12700">
            <a:solidFill>
              <a:srgbClr val="E55353"/>
            </a:solidFill>
            <a:prstDash val="solid"/>
          </a:ln>
        </p:spPr>
      </p:sp>
      <p:sp>
        <p:nvSpPr>
          <p:cNvPr id="57" name="Shape 55"/>
          <p:cNvSpPr/>
          <p:nvPr/>
        </p:nvSpPr>
        <p:spPr>
          <a:xfrm>
            <a:off x="8705088" y="2394601"/>
            <a:ext cx="320040" cy="485283"/>
          </a:xfrm>
          <a:prstGeom prst="line">
            <a:avLst/>
          </a:prstGeom>
          <a:noFill/>
          <a:ln w="17145">
            <a:solidFill>
              <a:srgbClr val="E55353"/>
            </a:solidFill>
            <a:prstDash val="solid"/>
            <a:headEnd type="none"/>
            <a:tailEnd type="none"/>
          </a:ln>
        </p:spPr>
      </p:sp>
      <p:sp>
        <p:nvSpPr>
          <p:cNvPr id="58" name="Shape 56"/>
          <p:cNvSpPr/>
          <p:nvPr/>
        </p:nvSpPr>
        <p:spPr>
          <a:xfrm>
            <a:off x="8983980" y="2838737"/>
            <a:ext cx="82296" cy="82296"/>
          </a:xfrm>
          <a:prstGeom prst="ellipse">
            <a:avLst/>
          </a:prstGeom>
          <a:solidFill>
            <a:srgbClr val="E55353"/>
          </a:solidFill>
          <a:ln w="12700">
            <a:solidFill>
              <a:srgbClr val="E55353"/>
            </a:solidFill>
            <a:prstDash val="solid"/>
          </a:ln>
        </p:spPr>
      </p:sp>
      <p:sp>
        <p:nvSpPr>
          <p:cNvPr id="59" name="Shape 57"/>
          <p:cNvSpPr/>
          <p:nvPr/>
        </p:nvSpPr>
        <p:spPr>
          <a:xfrm>
            <a:off x="9025128" y="2879885"/>
            <a:ext cx="320040" cy="-423067"/>
          </a:xfrm>
          <a:prstGeom prst="line">
            <a:avLst/>
          </a:prstGeom>
          <a:noFill/>
          <a:ln w="17145">
            <a:solidFill>
              <a:srgbClr val="E55353"/>
            </a:solidFill>
            <a:prstDash val="solid"/>
            <a:headEnd type="none"/>
            <a:tailEnd type="none"/>
          </a:ln>
        </p:spPr>
      </p:sp>
      <p:sp>
        <p:nvSpPr>
          <p:cNvPr id="60" name="Shape 58"/>
          <p:cNvSpPr/>
          <p:nvPr/>
        </p:nvSpPr>
        <p:spPr>
          <a:xfrm>
            <a:off x="9304020" y="2415669"/>
            <a:ext cx="82296" cy="82296"/>
          </a:xfrm>
          <a:prstGeom prst="ellipse">
            <a:avLst/>
          </a:prstGeom>
          <a:solidFill>
            <a:srgbClr val="E55353"/>
          </a:solidFill>
          <a:ln w="12700">
            <a:solidFill>
              <a:srgbClr val="E55353"/>
            </a:solidFill>
            <a:prstDash val="solid"/>
          </a:ln>
        </p:spPr>
      </p:sp>
      <p:sp>
        <p:nvSpPr>
          <p:cNvPr id="61" name="Shape 59"/>
          <p:cNvSpPr/>
          <p:nvPr/>
        </p:nvSpPr>
        <p:spPr>
          <a:xfrm>
            <a:off x="9345168" y="2456817"/>
            <a:ext cx="320040" cy="456249"/>
          </a:xfrm>
          <a:prstGeom prst="line">
            <a:avLst/>
          </a:prstGeom>
          <a:noFill/>
          <a:ln w="17145">
            <a:solidFill>
              <a:srgbClr val="E55353"/>
            </a:solidFill>
            <a:prstDash val="solid"/>
            <a:headEnd type="none"/>
            <a:tailEnd type="none"/>
          </a:ln>
        </p:spPr>
      </p:sp>
      <p:sp>
        <p:nvSpPr>
          <p:cNvPr id="62" name="Shape 60"/>
          <p:cNvSpPr/>
          <p:nvPr/>
        </p:nvSpPr>
        <p:spPr>
          <a:xfrm>
            <a:off x="9624060" y="2871918"/>
            <a:ext cx="82296" cy="82296"/>
          </a:xfrm>
          <a:prstGeom prst="ellipse">
            <a:avLst/>
          </a:prstGeom>
          <a:solidFill>
            <a:srgbClr val="E55353"/>
          </a:solidFill>
          <a:ln w="12700">
            <a:solidFill>
              <a:srgbClr val="E55353"/>
            </a:solidFill>
            <a:prstDash val="solid"/>
          </a:ln>
        </p:spPr>
      </p:sp>
      <p:sp>
        <p:nvSpPr>
          <p:cNvPr id="63" name="Shape 61"/>
          <p:cNvSpPr/>
          <p:nvPr/>
        </p:nvSpPr>
        <p:spPr>
          <a:xfrm>
            <a:off x="9665208" y="2913066"/>
            <a:ext cx="320040" cy="-476988"/>
          </a:xfrm>
          <a:prstGeom prst="line">
            <a:avLst/>
          </a:prstGeom>
          <a:noFill/>
          <a:ln w="17145">
            <a:solidFill>
              <a:srgbClr val="E55353"/>
            </a:solidFill>
            <a:prstDash val="solid"/>
            <a:headEnd type="none"/>
            <a:tailEnd type="none"/>
          </a:ln>
        </p:spPr>
      </p:sp>
      <p:sp>
        <p:nvSpPr>
          <p:cNvPr id="64" name="Shape 62"/>
          <p:cNvSpPr/>
          <p:nvPr/>
        </p:nvSpPr>
        <p:spPr>
          <a:xfrm>
            <a:off x="9944100" y="2394931"/>
            <a:ext cx="82296" cy="82296"/>
          </a:xfrm>
          <a:prstGeom prst="ellipse">
            <a:avLst/>
          </a:prstGeom>
          <a:solidFill>
            <a:srgbClr val="E55353"/>
          </a:solidFill>
          <a:ln w="12700">
            <a:solidFill>
              <a:srgbClr val="E55353"/>
            </a:solidFill>
            <a:prstDash val="solid"/>
          </a:ln>
        </p:spPr>
      </p:sp>
      <p:sp>
        <p:nvSpPr>
          <p:cNvPr id="65" name="Shape 63"/>
          <p:cNvSpPr/>
          <p:nvPr/>
        </p:nvSpPr>
        <p:spPr>
          <a:xfrm>
            <a:off x="9985248" y="2436079"/>
            <a:ext cx="320040" cy="398181"/>
          </a:xfrm>
          <a:prstGeom prst="line">
            <a:avLst/>
          </a:prstGeom>
          <a:noFill/>
          <a:ln w="17145">
            <a:solidFill>
              <a:srgbClr val="E55353"/>
            </a:solidFill>
            <a:prstDash val="solid"/>
            <a:headEnd type="none"/>
            <a:tailEnd type="none"/>
          </a:ln>
        </p:spPr>
      </p:sp>
      <p:sp>
        <p:nvSpPr>
          <p:cNvPr id="66" name="Shape 64"/>
          <p:cNvSpPr/>
          <p:nvPr/>
        </p:nvSpPr>
        <p:spPr>
          <a:xfrm>
            <a:off x="10264140" y="2793112"/>
            <a:ext cx="82296" cy="82296"/>
          </a:xfrm>
          <a:prstGeom prst="ellipse">
            <a:avLst/>
          </a:prstGeom>
          <a:solidFill>
            <a:srgbClr val="E55353"/>
          </a:solidFill>
          <a:ln w="12700">
            <a:solidFill>
              <a:srgbClr val="E55353"/>
            </a:solidFill>
            <a:prstDash val="solid"/>
          </a:ln>
        </p:spPr>
      </p:sp>
      <p:sp>
        <p:nvSpPr>
          <p:cNvPr id="67" name="Shape 65"/>
          <p:cNvSpPr/>
          <p:nvPr/>
        </p:nvSpPr>
        <p:spPr>
          <a:xfrm>
            <a:off x="10305288" y="2834260"/>
            <a:ext cx="320040" cy="-327670"/>
          </a:xfrm>
          <a:prstGeom prst="line">
            <a:avLst/>
          </a:prstGeom>
          <a:noFill/>
          <a:ln w="17145">
            <a:solidFill>
              <a:srgbClr val="E55353"/>
            </a:solidFill>
            <a:prstDash val="solid"/>
            <a:headEnd type="none"/>
            <a:tailEnd type="none"/>
          </a:ln>
        </p:spPr>
      </p:sp>
      <p:sp>
        <p:nvSpPr>
          <p:cNvPr id="68" name="Shape 66"/>
          <p:cNvSpPr/>
          <p:nvPr/>
        </p:nvSpPr>
        <p:spPr>
          <a:xfrm>
            <a:off x="10584180" y="2465442"/>
            <a:ext cx="82296" cy="82296"/>
          </a:xfrm>
          <a:prstGeom prst="ellipse">
            <a:avLst/>
          </a:prstGeom>
          <a:solidFill>
            <a:srgbClr val="E55353"/>
          </a:solidFill>
          <a:ln w="12700">
            <a:solidFill>
              <a:srgbClr val="E55353"/>
            </a:solidFill>
            <a:prstDash val="solid"/>
          </a:ln>
        </p:spPr>
      </p:sp>
      <p:sp>
        <p:nvSpPr>
          <p:cNvPr id="69" name="Text 67"/>
          <p:cNvSpPr/>
          <p:nvPr/>
        </p:nvSpPr>
        <p:spPr>
          <a:xfrm>
            <a:off x="8174736" y="3337560"/>
            <a:ext cx="2331720" cy="146304"/>
          </a:xfrm>
          <a:prstGeom prst="rect">
            <a:avLst/>
          </a:prstGeom>
          <a:noFill/>
          <a:ln/>
        </p:spPr>
        <p:txBody>
          <a:bodyPr wrap="square" lIns="0" tIns="0" rIns="0" bIns="0" rtlCol="0" anchor="ctr"/>
          <a:lstStyle/>
          <a:p>
            <a:pPr algn="ctr" indent="0" marL="0">
              <a:buNone/>
            </a:pPr>
            <a:r>
              <a:rPr lang="en-US" sz="920" i="1" dirty="0">
                <a:solidFill>
                  <a:srgbClr val="6D7788"/>
                </a:solidFill>
              </a:rPr>
              <a:t>alternates direction</a:t>
            </a:r>
            <a:endParaRPr lang="en-US" sz="920" dirty="0"/>
          </a:p>
        </p:txBody>
      </p:sp>
      <p:sp>
        <p:nvSpPr>
          <p:cNvPr id="70" name="Shape 68"/>
          <p:cNvSpPr/>
          <p:nvPr/>
        </p:nvSpPr>
        <p:spPr>
          <a:xfrm>
            <a:off x="603504" y="4014216"/>
            <a:ext cx="6720840" cy="1673352"/>
          </a:xfrm>
          <a:prstGeom prst="roundRect">
            <a:avLst>
              <a:gd name="adj" fmla="val 4372"/>
            </a:avLst>
          </a:prstGeom>
          <a:solidFill>
            <a:srgbClr val="FFFFFF"/>
          </a:solidFill>
          <a:ln w="12700">
            <a:solidFill>
              <a:srgbClr val="DCE3EC"/>
            </a:solidFill>
            <a:prstDash val="solid"/>
          </a:ln>
          <a:effectLst>
            <a:outerShdw sx="100000" sy="100000" kx="0" ky="0" algn="bl" rotWithShape="0" blurRad="12700" dist="50800" dir="2700000">
              <a:srgbClr val="C8D0DA">
                <a:alpha val="12000"/>
              </a:srgbClr>
            </a:outerShdw>
          </a:effectLst>
        </p:spPr>
      </p:sp>
      <p:sp>
        <p:nvSpPr>
          <p:cNvPr id="71" name="Text 69"/>
          <p:cNvSpPr/>
          <p:nvPr/>
        </p:nvSpPr>
        <p:spPr>
          <a:xfrm>
            <a:off x="868680" y="4279392"/>
            <a:ext cx="2926080" cy="219456"/>
          </a:xfrm>
          <a:prstGeom prst="rect">
            <a:avLst/>
          </a:prstGeom>
          <a:noFill/>
          <a:ln/>
        </p:spPr>
        <p:txBody>
          <a:bodyPr wrap="square" lIns="0" tIns="0" rIns="0" bIns="0" rtlCol="0" anchor="ctr"/>
          <a:lstStyle/>
          <a:p>
            <a:pPr indent="0" marL="0">
              <a:buNone/>
            </a:pPr>
            <a:r>
              <a:rPr lang="en-US" sz="1400" b="1" dirty="0">
                <a:solidFill>
                  <a:srgbClr val="17233C"/>
                </a:solidFill>
              </a:rPr>
              <a:t>Why it matters in regression</a:t>
            </a:r>
            <a:endParaRPr lang="en-US" sz="1400" dirty="0"/>
          </a:p>
        </p:txBody>
      </p:sp>
      <p:sp>
        <p:nvSpPr>
          <p:cNvPr id="72" name="Text 70"/>
          <p:cNvSpPr/>
          <p:nvPr/>
        </p:nvSpPr>
        <p:spPr>
          <a:xfrm>
            <a:off x="868680" y="4645152"/>
            <a:ext cx="5806440" cy="256032"/>
          </a:xfrm>
          <a:prstGeom prst="rect">
            <a:avLst/>
          </a:prstGeom>
          <a:noFill/>
          <a:ln/>
        </p:spPr>
        <p:txBody>
          <a:bodyPr wrap="square" lIns="0" tIns="0" rIns="0" bIns="0" rtlCol="0" anchor="ctr"/>
          <a:lstStyle/>
          <a:p>
            <a:pPr indent="0" marL="0">
              <a:buNone/>
            </a:pPr>
            <a:r>
              <a:rPr lang="en-US" sz="1150" dirty="0">
                <a:solidFill>
                  <a:srgbClr val="3D4758"/>
                </a:solidFill>
              </a:rPr>
              <a:t>OLS usually assumes errors from different observations are not systematically related.</a:t>
            </a:r>
            <a:endParaRPr lang="en-US" sz="1150" dirty="0"/>
          </a:p>
        </p:txBody>
      </p:sp>
      <p:sp>
        <p:nvSpPr>
          <p:cNvPr id="73" name="Text 71"/>
          <p:cNvSpPr/>
          <p:nvPr/>
        </p:nvSpPr>
        <p:spPr>
          <a:xfrm>
            <a:off x="868680" y="5010912"/>
            <a:ext cx="5998464" cy="402336"/>
          </a:xfrm>
          <a:prstGeom prst="rect">
            <a:avLst/>
          </a:prstGeom>
          <a:noFill/>
          <a:ln/>
        </p:spPr>
        <p:txBody>
          <a:bodyPr wrap="square" lIns="0" tIns="0" rIns="0" bIns="0" rtlCol="0" anchor="ctr"/>
          <a:lstStyle/>
          <a:p>
            <a:pPr indent="0" marL="0">
              <a:buNone/>
            </a:pPr>
            <a:r>
              <a:rPr lang="en-US" sz="1300" b="1" dirty="0">
                <a:solidFill>
                  <a:srgbClr val="E55353"/>
                </a:solidFill>
              </a:rPr>
              <a:t>Autocorrelation breaks that independence assumption → standard errors, t-tests, and p-values can become misleading.</a:t>
            </a:r>
            <a:endParaRPr lang="en-US" sz="1300" dirty="0"/>
          </a:p>
        </p:txBody>
      </p:sp>
      <p:sp>
        <p:nvSpPr>
          <p:cNvPr id="74" name="Shape 72"/>
          <p:cNvSpPr/>
          <p:nvPr/>
        </p:nvSpPr>
        <p:spPr>
          <a:xfrm>
            <a:off x="7571232" y="4014216"/>
            <a:ext cx="4059936" cy="1673352"/>
          </a:xfrm>
          <a:prstGeom prst="roundRect">
            <a:avLst>
              <a:gd name="adj" fmla="val 4372"/>
            </a:avLst>
          </a:prstGeom>
          <a:solidFill>
            <a:srgbClr val="FFFFFF"/>
          </a:solidFill>
          <a:ln w="12700">
            <a:solidFill>
              <a:srgbClr val="DCE3EC"/>
            </a:solidFill>
            <a:prstDash val="solid"/>
          </a:ln>
          <a:effectLst>
            <a:outerShdw sx="100000" sy="100000" kx="0" ky="0" algn="bl" rotWithShape="0" blurRad="12700" dist="50800" dir="2700000">
              <a:srgbClr val="C8D0DA">
                <a:alpha val="12000"/>
              </a:srgbClr>
            </a:outerShdw>
          </a:effectLst>
        </p:spPr>
      </p:sp>
      <p:sp>
        <p:nvSpPr>
          <p:cNvPr id="75" name="Text 73"/>
          <p:cNvSpPr/>
          <p:nvPr/>
        </p:nvSpPr>
        <p:spPr>
          <a:xfrm>
            <a:off x="7845552" y="4279392"/>
            <a:ext cx="2194560" cy="219456"/>
          </a:xfrm>
          <a:prstGeom prst="rect">
            <a:avLst/>
          </a:prstGeom>
          <a:noFill/>
          <a:ln/>
        </p:spPr>
        <p:txBody>
          <a:bodyPr wrap="square" lIns="0" tIns="0" rIns="0" bIns="0" rtlCol="0" anchor="ctr"/>
          <a:lstStyle/>
          <a:p>
            <a:pPr indent="0" marL="0">
              <a:buNone/>
            </a:pPr>
            <a:r>
              <a:rPr lang="en-US" sz="1400" b="1" dirty="0">
                <a:solidFill>
                  <a:srgbClr val="17233C"/>
                </a:solidFill>
              </a:rPr>
              <a:t>How to recognize it</a:t>
            </a:r>
            <a:endParaRPr lang="en-US" sz="1400" dirty="0"/>
          </a:p>
        </p:txBody>
      </p:sp>
      <p:sp>
        <p:nvSpPr>
          <p:cNvPr id="76" name="Text 74"/>
          <p:cNvSpPr/>
          <p:nvPr/>
        </p:nvSpPr>
        <p:spPr>
          <a:xfrm>
            <a:off x="7845552" y="4681728"/>
            <a:ext cx="2743200" cy="201168"/>
          </a:xfrm>
          <a:prstGeom prst="rect">
            <a:avLst/>
          </a:prstGeom>
          <a:noFill/>
          <a:ln/>
        </p:spPr>
        <p:txBody>
          <a:bodyPr wrap="square" lIns="0" tIns="0" rIns="0" bIns="0" rtlCol="0" anchor="ctr"/>
          <a:lstStyle/>
          <a:p>
            <a:pPr indent="0" marL="0">
              <a:buNone/>
            </a:pPr>
            <a:r>
              <a:rPr lang="en-US" sz="1150" dirty="0">
                <a:solidFill>
                  <a:srgbClr val="3D4758"/>
                </a:solidFill>
              </a:rPr>
              <a:t>1. Plot residuals over time</a:t>
            </a:r>
            <a:endParaRPr lang="en-US" sz="1150" dirty="0"/>
          </a:p>
        </p:txBody>
      </p:sp>
      <p:sp>
        <p:nvSpPr>
          <p:cNvPr id="77" name="Text 75"/>
          <p:cNvSpPr/>
          <p:nvPr/>
        </p:nvSpPr>
        <p:spPr>
          <a:xfrm>
            <a:off x="7845552" y="4974336"/>
            <a:ext cx="3218688" cy="201168"/>
          </a:xfrm>
          <a:prstGeom prst="rect">
            <a:avLst/>
          </a:prstGeom>
          <a:noFill/>
          <a:ln/>
        </p:spPr>
        <p:txBody>
          <a:bodyPr wrap="square" lIns="0" tIns="0" rIns="0" bIns="0" rtlCol="0" anchor="ctr"/>
          <a:lstStyle/>
          <a:p>
            <a:pPr indent="0" marL="0">
              <a:buNone/>
            </a:pPr>
            <a:r>
              <a:rPr lang="en-US" sz="1150" dirty="0">
                <a:solidFill>
                  <a:srgbClr val="3D4758"/>
                </a:solidFill>
              </a:rPr>
              <a:t>2. Look for runs or alternating patterns</a:t>
            </a:r>
            <a:endParaRPr lang="en-US" sz="1150" dirty="0"/>
          </a:p>
        </p:txBody>
      </p:sp>
      <p:sp>
        <p:nvSpPr>
          <p:cNvPr id="78" name="Text 76"/>
          <p:cNvSpPr/>
          <p:nvPr/>
        </p:nvSpPr>
        <p:spPr>
          <a:xfrm>
            <a:off x="7845552" y="5266944"/>
            <a:ext cx="2560320" cy="201168"/>
          </a:xfrm>
          <a:prstGeom prst="rect">
            <a:avLst/>
          </a:prstGeom>
          <a:noFill/>
          <a:ln/>
        </p:spPr>
        <p:txBody>
          <a:bodyPr wrap="square" lIns="0" tIns="0" rIns="0" bIns="0" rtlCol="0" anchor="ctr"/>
          <a:lstStyle/>
          <a:p>
            <a:pPr indent="0" marL="0">
              <a:buNone/>
            </a:pPr>
            <a:r>
              <a:rPr lang="en-US" sz="1150" dirty="0">
                <a:solidFill>
                  <a:srgbClr val="3D4758"/>
                </a:solidFill>
              </a:rPr>
              <a:t>3. Check Corr(eₜ, eₜ₋₁)</a:t>
            </a:r>
            <a:endParaRPr lang="en-US" sz="1150" dirty="0"/>
          </a:p>
        </p:txBody>
      </p:sp>
      <p:sp>
        <p:nvSpPr>
          <p:cNvPr id="79" name="Shape 77"/>
          <p:cNvSpPr/>
          <p:nvPr/>
        </p:nvSpPr>
        <p:spPr>
          <a:xfrm>
            <a:off x="3200400" y="5897880"/>
            <a:ext cx="5852160" cy="384048"/>
          </a:xfrm>
          <a:prstGeom prst="roundRect">
            <a:avLst/>
          </a:prstGeom>
          <a:solidFill>
            <a:srgbClr val="EAF1FF"/>
          </a:solidFill>
          <a:ln w="12700">
            <a:solidFill>
              <a:srgbClr val="EAF1FF"/>
            </a:solidFill>
            <a:prstDash val="solid"/>
          </a:ln>
        </p:spPr>
      </p:sp>
      <p:sp>
        <p:nvSpPr>
          <p:cNvPr id="80" name="Text 78"/>
          <p:cNvSpPr/>
          <p:nvPr/>
        </p:nvSpPr>
        <p:spPr>
          <a:xfrm>
            <a:off x="3401568" y="6007608"/>
            <a:ext cx="5449824" cy="137160"/>
          </a:xfrm>
          <a:prstGeom prst="rect">
            <a:avLst/>
          </a:prstGeom>
          <a:noFill/>
          <a:ln/>
        </p:spPr>
        <p:txBody>
          <a:bodyPr wrap="square" lIns="0" tIns="0" rIns="0" bIns="0" rtlCol="0" anchor="ctr"/>
          <a:lstStyle/>
          <a:p>
            <a:pPr algn="ctr" indent="0" marL="0">
              <a:buNone/>
            </a:pPr>
            <a:r>
              <a:rPr lang="en-US" sz="1050" b="1" dirty="0">
                <a:solidFill>
                  <a:srgbClr val="356AE6"/>
                </a:solidFill>
              </a:rPr>
              <a:t>Main takeaway: autocorrelation means the errors have a time pattern instead of behaving independently.</a:t>
            </a:r>
            <a:endParaRPr lang="en-US" sz="1050" dirty="0"/>
          </a:p>
        </p:txBody>
      </p:sp>
      <p:sp>
        <p:nvSpPr>
          <p:cNvPr id="25" name="Slide Number Placeholder 0"/>
          <p:cNvSpPr>
            <a:spLocks noGrp="1"/>
          </p:cNvSpPr>
          <p:nvPr>
            <p:ph type="sldNum" sz="quarter" idx="4294967295"/>
          </p:nvPr>
        </p:nvSpPr>
        <p:spPr>
          <a:xfrm>
            <a:off x="11850624" y="6565392"/>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8F98A7"/>
                </a:solidFill>
              </a:defRPr>
            </a:lvl1pPr>
          </a:lstStyle>
          <a:p>
            <a:pPr algn="l"/>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Autocorrelation</dc:title>
  <dc:subject>Autocorrelation teaching slides</dc:subject>
  <dc:creator>OpenAI</dc:creator>
  <cp:lastModifiedBy>OpenAI</cp:lastModifiedBy>
  <cp:revision>1</cp:revision>
  <dcterms:created xsi:type="dcterms:W3CDTF">2026-09-21T23:13:22Z</dcterms:created>
  <dcterms:modified xsi:type="dcterms:W3CDTF">2026-09-21T23:13:22Z</dcterms:modified>
</cp:coreProperties>
</file>